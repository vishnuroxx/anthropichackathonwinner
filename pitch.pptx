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Autonomous Prime. Airbus Challenge 2. Three separate agents (ATC, Pilot, Ground) negotiate a recovery plan when weather disrupts a flight; plain code keeps it safe.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Today the airline duty manager phones ATC, the flight deck and the ground team one by one. Each protects something different. Delay costs about $98 per block-minute (Airlines for America, 2025).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agent sees only its own private data. The mediator is plain code: it merges plans, checks every constraint and picks. Claude reasons and explains; code does every number, every safety check and every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ATC agent. Owns the arrival slot. Sees the slot grid, hourly capacity, wake separation and the background arrivals; it speaks for the other flights. Safety limits are enforced by code, never traded.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Pilot agent. Owns holding, extra fuel and diversion, and only the Pilot can divert. Sees fuel, crew duty, passenger connections and the alternate airport. Priority order: safety, fuel, connections.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Ground agent. Owns the gate. Sees gate timelines, the crew shift and the focal aircraft's next departure. Crew overtime is a cost (1.5x), not a veto; the gate, notice and turnaround rules are hard.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mediator is plain code, not an LLM. At most three rounds, nine agent calls. Round 1: proposals. Round 2: scoring. Round 3: a vote. All three accept: consensus. Anything else: the deterministic fallback decides.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numbers from the DFW demo (flight MQ3086): 30 plans in, 24 unique, 8 safe. The checker cut 16 for broken hard rules, for example the gate was busy (C-GATE-1) or holding ate the fuel reserve (C-FUEL-1). An agent only knows its own constraints, so only code that sees everything can judge safety. Each agent's top 3 safe plans form a shortlist of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scores from the DFW demo. Each agent scores every shortlisted plan from 0 to 1 (1 = best for it), floored at 0.05 so no single score is a veto. The pick rule is the Nash bargaining solution from game theory: maximise the product of the parties' utilities, here the three agent scores plus a cost score, with no-deal taken as zero. It rewards plans nobody hates. Adding would pick C3 at 2.05, but ATC scored it 0.05. Multiplying picks C2.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Round 3 is accept or reject only. All three accept: consensus. Any reject: the deterministic non-AI fallback picks the cheapest plan that passes every rule. If no plan passes, the system recommends cancellation and never applies it on its own. The human duty manager always decides.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runs on DFW, 24 April 2015: MQ3086, AA36, AA96, AA1480, AA98. All five ran end to end with no errors, and no unsafe plan was ever chosen. MQ3086, AA36 and AA96 reached consensus. For AA1480 and AA98 every proposed plan broke a hard rule (busy gate, crew duty), so the system chose nothing and recommended cancellation to the human. Have that ready if a judge asks where it fails. This is 5 flights, not a batch of 30.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candid. Synthetic inputs are labelled. Only 5 live flights so far. In rounds 1 and 2 the plans and scores are computed from each agent's own rules in code; the live Claude agents vote and explain in round 3. Next: live Claude scoring in rounds 1 and 2, a batch of about 30 flights against the fallback baseline, real gate and crew feeds. Close on the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Autonomous Prime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agents. One safe plan.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320040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Airbus Challenge #2 · Multi-agent disruption negotiation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309360" y="1463040"/>
            <a:ext cx="731520" cy="484632"/>
          </a:xfrm>
          <a:prstGeom prst="line">
            <a:avLst/>
          </a:prstGeom>
          <a:noFill/>
          <a:ln w="25400">
            <a:solidFill>
              <a:srgbClr val="C9D3D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7040880" y="1463040"/>
            <a:ext cx="731520" cy="484632"/>
          </a:xfrm>
          <a:prstGeom prst="line">
            <a:avLst/>
          </a:prstGeom>
          <a:noFill/>
          <a:ln w="25400">
            <a:solidFill>
              <a:srgbClr val="C9D3D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040880" y="1947672"/>
            <a:ext cx="0" cy="978408"/>
          </a:xfrm>
          <a:prstGeom prst="line">
            <a:avLst/>
          </a:prstGeom>
          <a:noFill/>
          <a:ln w="25400">
            <a:solidFill>
              <a:srgbClr val="C9D3D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12280" y="1719072"/>
            <a:ext cx="457200" cy="45720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715000" y="868680"/>
            <a:ext cx="1188720" cy="1188720"/>
          </a:xfrm>
          <a:prstGeom prst="ellipse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15000" y="8686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ATC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178040" y="868680"/>
            <a:ext cx="1188720" cy="118872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78040" y="8686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46520" y="2331720"/>
            <a:ext cx="1188720" cy="1188720"/>
          </a:xfrm>
          <a:prstGeom prst="ellipse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23317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Today: one manager, three phone calls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 flipV="1">
            <a:off x="2057400" y="1737360"/>
            <a:ext cx="1325880" cy="1188720"/>
          </a:xfrm>
          <a:prstGeom prst="line">
            <a:avLst/>
          </a:prstGeom>
          <a:noFill/>
          <a:ln w="25400">
            <a:solidFill>
              <a:srgbClr val="C9D3D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057400" y="2926080"/>
            <a:ext cx="1325880" cy="0"/>
          </a:xfrm>
          <a:prstGeom prst="line">
            <a:avLst/>
          </a:prstGeom>
          <a:noFill/>
          <a:ln w="25400">
            <a:solidFill>
              <a:srgbClr val="C9D3D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57400" y="2926080"/>
            <a:ext cx="1325880" cy="1188720"/>
          </a:xfrm>
          <a:prstGeom prst="line">
            <a:avLst/>
          </a:prstGeom>
          <a:noFill/>
          <a:ln w="25400">
            <a:solidFill>
              <a:srgbClr val="C9D3D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2331720"/>
            <a:ext cx="1188720" cy="1188720"/>
          </a:xfrm>
          <a:prstGeom prst="ellipse">
            <a:avLst/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3317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Duty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383280" y="1280160"/>
            <a:ext cx="914400" cy="914400"/>
          </a:xfrm>
          <a:prstGeom prst="ellipse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83280" y="12801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ATC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480560" y="1508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and separation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383280" y="2468880"/>
            <a:ext cx="914400" cy="91440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83280" y="24688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480560" y="2697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 and safety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383280" y="3657600"/>
            <a:ext cx="914400" cy="914400"/>
          </a:xfrm>
          <a:prstGeom prst="ellipse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83280" y="36576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480560" y="38862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and crew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040880" y="2011680"/>
            <a:ext cx="1554480" cy="1828800"/>
          </a:xfrm>
          <a:prstGeom prst="roundRect">
            <a:avLst>
              <a:gd name="adj" fmla="val 7059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040880" y="21945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$98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7132320" y="29260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minute of delay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132320" y="34290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A4A 2025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Private data. One code mediator.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2743200" cy="868680"/>
          </a:xfrm>
          <a:prstGeom prst="roundRect">
            <a:avLst>
              <a:gd name="adj" fmla="val 12632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394460"/>
            <a:ext cx="548640" cy="548640"/>
          </a:xfrm>
          <a:prstGeom prst="ellipse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944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17320" y="123444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ATC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slots · capacity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291840" y="1668780"/>
            <a:ext cx="731520" cy="1028700"/>
          </a:xfrm>
          <a:prstGeom prst="line">
            <a:avLst/>
          </a:prstGeom>
          <a:noFill/>
          <a:ln w="19050">
            <a:solidFill>
              <a:srgbClr val="5B6770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48640" y="2286000"/>
            <a:ext cx="2743200" cy="868680"/>
          </a:xfrm>
          <a:prstGeom prst="roundRect">
            <a:avLst>
              <a:gd name="adj" fmla="val 12632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2446020"/>
            <a:ext cx="548640" cy="54864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4460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17320" y="228600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 · crew · connections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 flipV="1">
            <a:off x="3291840" y="2697480"/>
            <a:ext cx="731520" cy="22860"/>
          </a:xfrm>
          <a:prstGeom prst="line">
            <a:avLst/>
          </a:prstGeom>
          <a:noFill/>
          <a:ln w="19050">
            <a:solidFill>
              <a:srgbClr val="5B677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2743200" cy="868680"/>
          </a:xfrm>
          <a:prstGeom prst="roundRect">
            <a:avLst>
              <a:gd name="adj" fmla="val 12632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1520" y="3497580"/>
            <a:ext cx="548640" cy="548640"/>
          </a:xfrm>
          <a:prstGeom prst="ellipse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4975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417320" y="333756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· crew shift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 flipV="1">
            <a:off x="3291840" y="2697480"/>
            <a:ext cx="731520" cy="1074420"/>
          </a:xfrm>
          <a:prstGeom prst="line">
            <a:avLst/>
          </a:prstGeom>
          <a:noFill/>
          <a:ln w="19050">
            <a:solidFill>
              <a:srgbClr val="5B6770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023360" y="1234440"/>
            <a:ext cx="2194560" cy="2971800"/>
          </a:xfrm>
          <a:prstGeom prst="roundRect">
            <a:avLst>
              <a:gd name="adj" fmla="val 5000"/>
            </a:avLst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23360" y="1234440"/>
            <a:ext cx="219456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MEDIATOR</a:t>
            </a:r>
            <a:endParaRPr lang="en-US" sz="22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code, no AI</a:t>
            </a:r>
            <a:endParaRPr lang="en-US" sz="22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22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9D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· check · pick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6217920" y="2697480"/>
            <a:ext cx="548640" cy="0"/>
          </a:xfrm>
          <a:prstGeom prst="line">
            <a:avLst/>
          </a:prstGeom>
          <a:noFill/>
          <a:ln w="19050">
            <a:solidFill>
              <a:srgbClr val="5B6770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766560" y="2148840"/>
            <a:ext cx="1828800" cy="1097280"/>
          </a:xfrm>
          <a:prstGeom prst="roundRect">
            <a:avLst>
              <a:gd name="adj" fmla="val 10000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66560" y="214884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plan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approves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548640" y="4434840"/>
            <a:ext cx="3931920" cy="411480"/>
          </a:xfrm>
          <a:prstGeom prst="roundRect">
            <a:avLst>
              <a:gd name="adj" fmla="val 26667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44348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Claude: reasons and explains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663440" y="4434840"/>
            <a:ext cx="3931920" cy="411480"/>
          </a:xfrm>
          <a:prstGeom prst="roundRect">
            <a:avLst>
              <a:gd name="adj" fmla="val 26667"/>
            </a:avLst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63440" y="44348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Code: numbers, safety checks, decisions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5143500"/>
          </a:xfrm>
          <a:prstGeom prst="rect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5840" y="594360"/>
            <a:ext cx="1188720" cy="11887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" y="59436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365760" y="20116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ATC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365760" y="29260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320040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 slot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0" y="457200"/>
            <a:ext cx="4937760" cy="1051560"/>
          </a:xfrm>
          <a:prstGeom prst="roundRect">
            <a:avLst>
              <a:gd name="adj" fmla="val 10435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86200" y="457200"/>
            <a:ext cx="4526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SEES ONLY</a:t>
            </a:r>
            <a:endParaRPr lang="en-US" sz="1100" dirty="0"/>
          </a:p>
          <a:p>
            <a:pPr indent="0" marL="0">
              <a:buNone/>
            </a:pPr>
            <a:r>
              <a:rPr lang="en-US" sz="18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Slot grid · hourly capacity · wake separation · other arrivals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0" y="1645920"/>
            <a:ext cx="4937760" cy="1051560"/>
          </a:xfrm>
          <a:prstGeom prst="roundRect">
            <a:avLst>
              <a:gd name="adj" fmla="val 10435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86200" y="1645920"/>
            <a:ext cx="4526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TRADES</a:t>
            </a:r>
            <a:endParaRPr lang="en-US" sz="1100" dirty="0"/>
          </a:p>
          <a:p>
            <a:pPr indent="0" marL="0">
              <a:buNone/>
            </a:pPr>
            <a:r>
              <a:rPr lang="en-US" sz="18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Wake separation · hourly arrival cap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0" y="2834640"/>
            <a:ext cx="4937760" cy="1051560"/>
          </a:xfrm>
          <a:prstGeom prst="roundRect">
            <a:avLst>
              <a:gd name="adj" fmla="val 10435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86200" y="2834640"/>
            <a:ext cx="4526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CARES ABOUT</a:t>
            </a:r>
            <a:endParaRPr lang="en-US" sz="1100" dirty="0"/>
          </a:p>
          <a:p>
            <a:pPr indent="0" marL="0">
              <a:buNone/>
            </a:pPr>
            <a:r>
              <a:rPr lang="en-US" sz="18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· lowest total system delay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657600" y="411480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output: 10 plans, best to worst, each scored 0 to 1 with a reason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5143500"/>
          </a:xfrm>
          <a:prstGeom prst="rec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5840" y="594360"/>
            <a:ext cx="1188720" cy="11887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" y="59436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365760" y="20116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PILOT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365760" y="29260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320040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Holding · extra fuel · diversion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0" y="457200"/>
            <a:ext cx="4937760" cy="1051560"/>
          </a:xfrm>
          <a:prstGeom prst="roundRect">
            <a:avLst>
              <a:gd name="adj" fmla="val 10435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86200" y="457200"/>
            <a:ext cx="4526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SEES ONLY</a:t>
            </a:r>
            <a:endParaRPr lang="en-US" sz="1100" dirty="0"/>
          </a:p>
          <a:p>
            <a:pPr indent="0" marL="0">
              <a:buNone/>
            </a:pPr>
            <a:r>
              <a:rPr lang="en-US" sz="18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 on board · crew duty · connections · alternate airport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0" y="1645920"/>
            <a:ext cx="4937760" cy="1051560"/>
          </a:xfrm>
          <a:prstGeom prst="roundRect">
            <a:avLst>
              <a:gd name="adj" fmla="val 10435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86200" y="1645920"/>
            <a:ext cx="4526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TRADES</a:t>
            </a:r>
            <a:endParaRPr lang="en-US" sz="1100" dirty="0"/>
          </a:p>
          <a:p>
            <a:pPr indent="0" marL="0">
              <a:buNone/>
            </a:pPr>
            <a:r>
              <a:rPr lang="en-US" sz="18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30-min fuel reserve · 13 h crew duty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0" y="2834640"/>
            <a:ext cx="4937760" cy="1051560"/>
          </a:xfrm>
          <a:prstGeom prst="roundRect">
            <a:avLst>
              <a:gd name="adj" fmla="val 10435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86200" y="2834640"/>
            <a:ext cx="4526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CARES ABOUT</a:t>
            </a:r>
            <a:endParaRPr lang="en-US" sz="1100" dirty="0"/>
          </a:p>
          <a:p>
            <a:pPr indent="0" marL="0">
              <a:buNone/>
            </a:pPr>
            <a:r>
              <a:rPr lang="en-US" sz="18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Safety, then fuel, then connections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657600" y="411480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output: 10 plans, best to worst, each scored 0 to 1 with a reason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5143500"/>
          </a:xfrm>
          <a:prstGeom prst="rect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5840" y="594360"/>
            <a:ext cx="1188720" cy="11887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" y="59436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365760" y="20116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365760" y="29260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320040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0" y="457200"/>
            <a:ext cx="4937760" cy="1051560"/>
          </a:xfrm>
          <a:prstGeom prst="roundRect">
            <a:avLst>
              <a:gd name="adj" fmla="val 10435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86200" y="457200"/>
            <a:ext cx="4526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SEES ONLY</a:t>
            </a:r>
            <a:endParaRPr lang="en-US" sz="1100" dirty="0"/>
          </a:p>
          <a:p>
            <a:pPr indent="0" marL="0">
              <a:buNone/>
            </a:pPr>
            <a:r>
              <a:rPr lang="en-US" sz="18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timelines · crew shift · next departure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0" y="1645920"/>
            <a:ext cx="4937760" cy="1051560"/>
          </a:xfrm>
          <a:prstGeom prst="roundRect">
            <a:avLst>
              <a:gd name="adj" fmla="val 10435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86200" y="1645920"/>
            <a:ext cx="4526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TRADES</a:t>
            </a:r>
            <a:endParaRPr lang="en-US" sz="1100" dirty="0"/>
          </a:p>
          <a:p>
            <a:pPr indent="0" marL="0">
              <a:buNone/>
            </a:pPr>
            <a:r>
              <a:rPr lang="en-US" sz="18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free · 20-min change notice · 45-min turnaround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0" y="2834640"/>
            <a:ext cx="4937760" cy="1051560"/>
          </a:xfrm>
          <a:prstGeom prst="roundRect">
            <a:avLst>
              <a:gd name="adj" fmla="val 10435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86200" y="2834640"/>
            <a:ext cx="4526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CARES ABOUT</a:t>
            </a:r>
            <a:endParaRPr lang="en-US" sz="1100" dirty="0"/>
          </a:p>
          <a:p>
            <a:pPr indent="0" marL="0">
              <a:buNone/>
            </a:pPr>
            <a:r>
              <a:rPr lang="en-US" sz="18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crew overtime · gate use · turnaround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657600" y="411480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output: 10 plans, best to worst, each scored 0 to 1 with a reason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rounds, run by code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2377440" cy="2103120"/>
          </a:xfrm>
          <a:prstGeom prst="roundRect">
            <a:avLst>
              <a:gd name="adj" fmla="val 5217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508760"/>
            <a:ext cx="640080" cy="640080"/>
          </a:xfrm>
          <a:prstGeom prst="ellipse">
            <a:avLst/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77240" y="22860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77240" y="26974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sends 10 plans, best to worst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457200" cy="0"/>
          </a:xfrm>
          <a:prstGeom prst="line">
            <a:avLst/>
          </a:prstGeom>
          <a:noFill/>
          <a:ln w="19050">
            <a:solidFill>
              <a:srgbClr val="5B6770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383280" y="1234440"/>
            <a:ext cx="2377440" cy="2103120"/>
          </a:xfrm>
          <a:prstGeom prst="roundRect">
            <a:avLst>
              <a:gd name="adj" fmla="val 5217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66160" y="1508760"/>
            <a:ext cx="640080" cy="640080"/>
          </a:xfrm>
          <a:prstGeom prst="ellipse">
            <a:avLst/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6616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611880" y="22860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611880" y="26974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 scores the whole shortlist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760720" y="2286000"/>
            <a:ext cx="457200" cy="0"/>
          </a:xfrm>
          <a:prstGeom prst="line">
            <a:avLst/>
          </a:prstGeom>
          <a:noFill/>
          <a:ln w="19050">
            <a:solidFill>
              <a:srgbClr val="5B6770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217920" y="1234440"/>
            <a:ext cx="2377440" cy="2103120"/>
          </a:xfrm>
          <a:prstGeom prst="roundRect">
            <a:avLst>
              <a:gd name="adj" fmla="val 5217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1508760"/>
            <a:ext cx="640080" cy="640080"/>
          </a:xfrm>
          <a:prstGeom prst="ellipse">
            <a:avLst/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446520" y="22860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Vote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446520" y="26974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 or reject the picked plan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3657600"/>
            <a:ext cx="3931920" cy="731520"/>
          </a:xfrm>
          <a:prstGeom prst="roundRect">
            <a:avLst>
              <a:gd name="adj" fmla="val 15000"/>
            </a:avLst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365760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accept: consensus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4663440" y="3657600"/>
            <a:ext cx="3931920" cy="731520"/>
          </a:xfrm>
          <a:prstGeom prst="roundRect">
            <a:avLst>
              <a:gd name="adj" fmla="val 15000"/>
            </a:avLst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63440" y="365760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Otherwise: deterministic fallback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Round 1: unsafe plans are cut by code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4389120" cy="640080"/>
          </a:xfrm>
          <a:prstGeom prst="roundRect">
            <a:avLst>
              <a:gd name="adj" fmla="val 14286"/>
            </a:avLst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234440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212080" y="123444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proposed, 10 per agent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960120" y="1965960"/>
            <a:ext cx="3566160" cy="640080"/>
          </a:xfrm>
          <a:prstGeom prst="roundRect">
            <a:avLst>
              <a:gd name="adj" fmla="val 14286"/>
            </a:avLst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96596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212080" y="196596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merging duplicates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554480" y="2697480"/>
            <a:ext cx="2377440" cy="640080"/>
          </a:xfrm>
          <a:prstGeom prst="roundRect">
            <a:avLst>
              <a:gd name="adj" fmla="val 14286"/>
            </a:avLst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554480" y="26974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5212080" y="26974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the safety checker (16 cut)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1920240" y="3429000"/>
            <a:ext cx="1645920" cy="640080"/>
          </a:xfrm>
          <a:prstGeom prst="roundRect">
            <a:avLst>
              <a:gd name="adj" fmla="val 14286"/>
            </a:avLst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20240" y="342900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212080" y="34290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shortlist: each agent's top 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48640" y="42976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agent's score is a claim. The checker is the judge.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Round 2: balance beats favourites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521208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731520"/>
                <a:gridCol w="868680"/>
                <a:gridCol w="109728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Pilot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0F1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0F1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0F1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0F1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0F1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$11,040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0F1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0F1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0F1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0F1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0F1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0F1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$11,915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0F1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D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0F1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0F1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0F1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0F1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0F1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$12,846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0F1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3291840"/>
            <a:ext cx="5212080" cy="868680"/>
          </a:xfrm>
          <a:prstGeom prst="roundRect">
            <a:avLst>
              <a:gd name="adj" fmla="val 12632"/>
            </a:avLst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3291840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Nash bargaining solution</a:t>
            </a:r>
            <a:endParaRPr lang="en-US" sz="19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ATC × Pilot × Ground × cost score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548640" y="425196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score = cheapest plan ÷ this plan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126480" y="1234440"/>
            <a:ext cx="2468880" cy="3154680"/>
          </a:xfrm>
          <a:prstGeom prst="roundRect">
            <a:avLst>
              <a:gd name="adj" fmla="val 4444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355080" y="1234440"/>
            <a:ext cx="210312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scores?</a:t>
            </a:r>
            <a:endParaRPr lang="en-US" sz="1300" dirty="0"/>
          </a:p>
          <a:p>
            <a:pPr indent="0" marL="0">
              <a:buNone/>
            </a:pPr>
            <a:r>
              <a:rPr lang="en-US" sz="19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C3 wins (2.05)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B0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ATC gave it 0.05</a:t>
            </a:r>
            <a:endParaRPr lang="en-US" sz="1300" dirty="0"/>
          </a:p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them?</a:t>
            </a:r>
            <a:endParaRPr lang="en-US" sz="1300" dirty="0"/>
          </a:p>
          <a:p>
            <a:pPr indent="0" marL="0">
              <a:buNone/>
            </a:pPr>
            <a:r>
              <a:rPr lang="en-US" sz="19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C2 wins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is sacrificed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Round 3: agree, or the fallback decides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2194560" cy="3108960"/>
          </a:xfrm>
          <a:prstGeom prst="roundRect">
            <a:avLst>
              <a:gd name="adj" fmla="val 5000"/>
            </a:avLst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3716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48740" y="1897380"/>
            <a:ext cx="594360" cy="594360"/>
          </a:xfrm>
          <a:prstGeom prst="ellipse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48740" y="18973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ATC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348740" y="2628900"/>
            <a:ext cx="594360" cy="59436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48740" y="26289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348740" y="3360420"/>
            <a:ext cx="594360" cy="594360"/>
          </a:xfrm>
          <a:prstGeom prst="ellipse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48740" y="33604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657600" y="1234440"/>
            <a:ext cx="4937760" cy="777240"/>
          </a:xfrm>
          <a:prstGeom prst="roundRect">
            <a:avLst>
              <a:gd name="adj" fmla="val 14118"/>
            </a:avLst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86200" y="123444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Consensus</a:t>
            </a:r>
            <a:endParaRPr lang="en-US" sz="19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3 accept: the plan goes to the human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 flipV="1">
            <a:off x="2743200" y="1623060"/>
            <a:ext cx="914400" cy="1165860"/>
          </a:xfrm>
          <a:prstGeom prst="line">
            <a:avLst/>
          </a:prstGeom>
          <a:noFill/>
          <a:ln w="19050">
            <a:solidFill>
              <a:srgbClr val="5B6770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657600" y="2423160"/>
            <a:ext cx="4937760" cy="777240"/>
          </a:xfrm>
          <a:prstGeom prst="roundRect">
            <a:avLst>
              <a:gd name="adj" fmla="val 14118"/>
            </a:avLst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86200" y="242316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</a:t>
            </a:r>
            <a:endParaRPr lang="en-US" sz="1900" dirty="0"/>
          </a:p>
          <a:p>
            <a:pPr indent="0" marL="0">
              <a:buNone/>
            </a:pPr>
            <a:r>
              <a:rPr lang="en-US" sz="14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reject: cheapest plan that passes every rule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2743200" y="2788920"/>
            <a:ext cx="914400" cy="22860"/>
          </a:xfrm>
          <a:prstGeom prst="line">
            <a:avLst/>
          </a:prstGeom>
          <a:noFill/>
          <a:ln w="19050">
            <a:solidFill>
              <a:srgbClr val="5B6770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657600" y="3611880"/>
            <a:ext cx="4937760" cy="777240"/>
          </a:xfrm>
          <a:prstGeom prst="roundRect">
            <a:avLst>
              <a:gd name="adj" fmla="val 14118"/>
            </a:avLst>
          </a:prstGeom>
          <a:solidFill>
            <a:srgbClr val="B03A2E"/>
          </a:solidFill>
          <a:ln w="12700">
            <a:solidFill>
              <a:srgbClr val="B03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86200" y="361188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safe plan</a:t>
            </a:r>
            <a:endParaRPr lang="en-US" sz="19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 cancellation; the human decides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2743200" y="2788920"/>
            <a:ext cx="914400" cy="1211580"/>
          </a:xfrm>
          <a:prstGeom prst="line">
            <a:avLst/>
          </a:prstGeom>
          <a:noFill/>
          <a:ln w="19050">
            <a:solidFill>
              <a:srgbClr val="5B6770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Tested live on 5 flights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4023360" cy="2926080"/>
          </a:xfrm>
          <a:prstGeom prst="roundRect">
            <a:avLst>
              <a:gd name="adj" fmla="val 3750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37160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3716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" y="18288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MQ3086 · DFW · weather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22402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Land 21:09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777240" y="297180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105 min ground delay · gate B20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$11,915 system cost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of 3 agents accept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840480" cy="896112"/>
          </a:xfrm>
          <a:prstGeom prst="roundRect">
            <a:avLst>
              <a:gd name="adj" fmla="val 12245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1188720"/>
            <a:ext cx="914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5943600" y="1188720"/>
            <a:ext cx="25603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flights run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754880" y="2212848"/>
            <a:ext cx="3840480" cy="896112"/>
          </a:xfrm>
          <a:prstGeom prst="roundRect">
            <a:avLst>
              <a:gd name="adj" fmla="val 12245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0" y="2212848"/>
            <a:ext cx="914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5943600" y="2212848"/>
            <a:ext cx="25603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754880" y="3236976"/>
            <a:ext cx="3840480" cy="896112"/>
          </a:xfrm>
          <a:prstGeom prst="roundRect">
            <a:avLst>
              <a:gd name="adj" fmla="val 12245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37760" y="3236976"/>
            <a:ext cx="914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5943600" y="3236976"/>
            <a:ext cx="25603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unsafe plans chosen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48640" y="434340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plan is checked by code before any agent sees it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limits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280160"/>
            <a:ext cx="457200" cy="45720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371600" y="1188720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Gates, crew and connections are synthetic, and labelled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057400"/>
            <a:ext cx="457200" cy="45720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371600" y="1965960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live flights tested, not a batch of 30 yet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" y="2834640"/>
            <a:ext cx="457200" cy="45720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834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71600" y="2743200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Rounds 1 and 2 scores come from each agent's rules in code; Claude votes and explains in round 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48640" y="36118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 owns safety. Agents own the trade-offs. Humans decide.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548640" y="45262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Prime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Autonomous Prime: three agents, one safe plan</dc:title>
  <dc:subject>PptxGenJS Presentation</dc:subject>
  <dc:creator>Autonomous Prime</dc:creator>
  <cp:lastModifiedBy>Autonomous Prime</cp:lastModifiedBy>
  <cp:revision>1</cp:revision>
  <dcterms:created xsi:type="dcterms:W3CDTF">2026-10-31T08:24:10Z</dcterms:created>
  <dcterms:modified xsi:type="dcterms:W3CDTF">2026-10-31T08:24:10Z</dcterms:modified>
</cp:coreProperties>
</file>