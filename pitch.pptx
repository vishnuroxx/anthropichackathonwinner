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Prime. Airbus Challenge 2. Three separate agents (ATC, Pilot, Ground) negotiate a recovery plan when weather disrupts a flight; plain code keeps it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airline duty manager phones ATC, the flight deck and the ground team one by one. Each protects something different. Delay costs about $98 per block-minute (Airlines for America,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agent sees only its own private data. The mediator is plain code: it merges plans, checks every constraint and picks. Claude reasons and explains; code does every number, every safety check and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ATC agent. Owns the arrival slot. Sees the slot grid, hourly capacity, wake separation and the background arrivals; it speaks for the other flights. Safety limits are enforced by code, never traded.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Pilot agent. Owns holding, extra fuel and diversion, and only the Pilot can divert. Sees fuel, crew duty, passenger connections and the alternate airport. Priority order: safety, fuel,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agent. Owns the gate. Sees gate timelines, the crew shift and the focal aircraft's next departure. Crew overtime is a cost (1.5x), not a veto; the gate, notice and turnaround rules are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mediator is plain code, not an LLM. At most three rounds, nine agent calls. Round 1: proposals. Round 2: scoring. Round 3: a vote. All three accept: consensus. Anything else: the deterministic fallback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numbers from the DFW demo (flight MQ3086): 30 plans in, 24 unique, 8 safe. The checker cut 16 for broken hard rules, for example the gate was busy (C-GATE-1) or holding ate the fuel reserve (C-FUEL-1). An agent only knows its own constraints, so only code that sees everything can judge safety. Each agent's top 3 safe plans form a shortlist of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scores from the DFW demo. Each agent scores every shortlisted plan from 0 to 1 (1 = best for it), floored at 0.05 so no single score is a veto. Each agent's score is computed by code from its own private rules, so it is reproducible; Claude votes and explains in round 3. The pick rule is the Nash bargaining solution from game theory: maximise the product of the parties' utilities, here the three agent scores plus a cost score, with no-deal taken as zero. It rewards plans nobody hates. Adding would pick C3 at 2.05, but ATC scored it 0.05. Multiplying picks 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3 is accept or reject only. All three accept: consensus. Any reject: the deterministic non-AI fallback picks the cheapest plan that passes every hard rule. The human duty manager always decides. If asked: when no plan at all passes every hard rule, the system says so and recommends cancellation to the human; it never applies it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Batch of 30 live runs on real DFW disruptions of 24 April 2015 (15 weather, 15 late aircraft, random sample, seed 7). 26 reached consensus (87%); 3 had a round-3 reject and went to the fallback (cheapest valid plan); 1 had no valid plan at all. 0 errors and 0 unsafe plans chosen: every chosen plan passed the final safety check. Baseline: on the 26 consensus flights the agents' plan averaged $5,858 against $5,327 for the cheapest valid plan (+10%); the agents' plan was as cheap or cheaper on 8 of 26. Be ready to say why: the agents trade some cost for balance across the three parties. That is the reasoning, not something we measured. The MQ3086 card is the worked example from the earlier demo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Gates and crew are synthetic and labelled; real feeds come next. One focal flight per scenario today; many flights at once is next. Close on the three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640080" y="1371600"/>
            <a:ext cx="5029200"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Autonomous Prime</a:t>
            </a:r>
            <a:endParaRPr lang="en-US" sz="3800" dirty="0"/>
          </a:p>
        </p:txBody>
      </p:sp>
      <p:sp>
        <p:nvSpPr>
          <p:cNvPr id="3" name="Text 1"/>
          <p:cNvSpPr/>
          <p:nvPr/>
        </p:nvSpPr>
        <p:spPr>
          <a:xfrm>
            <a:off x="640080" y="2377440"/>
            <a:ext cx="5029200" cy="731520"/>
          </a:xfrm>
          <a:prstGeom prst="rect">
            <a:avLst/>
          </a:prstGeom>
          <a:noFill/>
          <a:ln/>
        </p:spPr>
        <p:txBody>
          <a:bodyPr wrap="square" lIns="0" tIns="0" rIns="0" bIns="0" rtlCol="0" anchor="ctr"/>
          <a:lstStyle/>
          <a:p>
            <a:pPr indent="0" marL="0">
              <a:buNone/>
            </a:pPr>
            <a:r>
              <a:rPr lang="en-US" sz="2400" dirty="0">
                <a:solidFill>
                  <a:srgbClr val="F5A623"/>
                </a:solidFill>
                <a:latin typeface="Cambria" pitchFamily="34" charset="0"/>
                <a:ea typeface="Cambria" pitchFamily="34" charset="-122"/>
                <a:cs typeface="Cambria" pitchFamily="34" charset="-120"/>
              </a:rPr>
              <a:t>Three agents. One safe plan.</a:t>
            </a:r>
            <a:endParaRPr lang="en-US" sz="2400" dirty="0"/>
          </a:p>
        </p:txBody>
      </p:sp>
      <p:sp>
        <p:nvSpPr>
          <p:cNvPr id="4" name="Text 2"/>
          <p:cNvSpPr/>
          <p:nvPr/>
        </p:nvSpPr>
        <p:spPr>
          <a:xfrm>
            <a:off x="640080" y="3200400"/>
            <a:ext cx="4937760" cy="548640"/>
          </a:xfrm>
          <a:prstGeom prst="rect">
            <a:avLst/>
          </a:prstGeom>
          <a:noFill/>
          <a:ln/>
        </p:spPr>
        <p:txBody>
          <a:bodyPr wrap="square" lIns="0" tIns="0" rIns="0" bIns="0" rtlCol="0" anchor="ctr"/>
          <a:lstStyle/>
          <a:p>
            <a:pPr indent="0" marL="0">
              <a:buNone/>
            </a:pPr>
            <a:r>
              <a:rPr lang="en-US" sz="1400" dirty="0">
                <a:solidFill>
                  <a:srgbClr val="C9D3DF"/>
                </a:solidFill>
                <a:latin typeface="Calibri" pitchFamily="34" charset="0"/>
                <a:ea typeface="Calibri" pitchFamily="34" charset="-122"/>
                <a:cs typeface="Calibri" pitchFamily="34" charset="-120"/>
              </a:rPr>
              <a:t>Airbus Challenge #2 · Multi-agent disruption negotiation</a:t>
            </a:r>
            <a:endParaRPr lang="en-US" sz="1400" dirty="0"/>
          </a:p>
        </p:txBody>
      </p:sp>
      <p:sp>
        <p:nvSpPr>
          <p:cNvPr id="5" name="Shape 3"/>
          <p:cNvSpPr/>
          <p:nvPr/>
        </p:nvSpPr>
        <p:spPr>
          <a:xfrm>
            <a:off x="6309360" y="1463040"/>
            <a:ext cx="731520" cy="484632"/>
          </a:xfrm>
          <a:prstGeom prst="line">
            <a:avLst/>
          </a:prstGeom>
          <a:noFill/>
          <a:ln w="25400">
            <a:solidFill>
              <a:srgbClr val="C9D3DF"/>
            </a:solidFill>
            <a:prstDash val="solid"/>
          </a:ln>
        </p:spPr>
      </p:sp>
      <p:sp>
        <p:nvSpPr>
          <p:cNvPr id="6" name="Shape 4"/>
          <p:cNvSpPr/>
          <p:nvPr/>
        </p:nvSpPr>
        <p:spPr>
          <a:xfrm flipV="1">
            <a:off x="7040880" y="1463040"/>
            <a:ext cx="731520" cy="484632"/>
          </a:xfrm>
          <a:prstGeom prst="line">
            <a:avLst/>
          </a:prstGeom>
          <a:noFill/>
          <a:ln w="25400">
            <a:solidFill>
              <a:srgbClr val="C9D3DF"/>
            </a:solidFill>
            <a:prstDash val="solid"/>
          </a:ln>
        </p:spPr>
      </p:sp>
      <p:sp>
        <p:nvSpPr>
          <p:cNvPr id="7" name="Shape 5"/>
          <p:cNvSpPr/>
          <p:nvPr/>
        </p:nvSpPr>
        <p:spPr>
          <a:xfrm>
            <a:off x="7040880" y="1947672"/>
            <a:ext cx="0" cy="978408"/>
          </a:xfrm>
          <a:prstGeom prst="line">
            <a:avLst/>
          </a:prstGeom>
          <a:noFill/>
          <a:ln w="25400">
            <a:solidFill>
              <a:srgbClr val="C9D3DF"/>
            </a:solidFill>
            <a:prstDash val="solid"/>
          </a:ln>
        </p:spPr>
      </p:sp>
      <p:sp>
        <p:nvSpPr>
          <p:cNvPr id="8" name="Shape 6"/>
          <p:cNvSpPr/>
          <p:nvPr/>
        </p:nvSpPr>
        <p:spPr>
          <a:xfrm>
            <a:off x="6812280" y="1719072"/>
            <a:ext cx="457200" cy="457200"/>
          </a:xfrm>
          <a:prstGeom prst="ellipse">
            <a:avLst/>
          </a:prstGeom>
          <a:solidFill>
            <a:srgbClr val="F5A623"/>
          </a:solidFill>
          <a:ln w="12700">
            <a:solidFill>
              <a:srgbClr val="F5A623"/>
            </a:solidFill>
            <a:prstDash val="solid"/>
          </a:ln>
        </p:spPr>
      </p:sp>
      <p:sp>
        <p:nvSpPr>
          <p:cNvPr id="9" name="Shape 7"/>
          <p:cNvSpPr/>
          <p:nvPr/>
        </p:nvSpPr>
        <p:spPr>
          <a:xfrm>
            <a:off x="5715000" y="868680"/>
            <a:ext cx="1188720" cy="1188720"/>
          </a:xfrm>
          <a:prstGeom prst="ellipse">
            <a:avLst/>
          </a:prstGeom>
          <a:solidFill>
            <a:srgbClr val="2E86AB"/>
          </a:solidFill>
          <a:ln w="12700">
            <a:solidFill>
              <a:srgbClr val="2E86AB"/>
            </a:solidFill>
            <a:prstDash val="solid"/>
          </a:ln>
        </p:spPr>
      </p:sp>
      <p:sp>
        <p:nvSpPr>
          <p:cNvPr id="10" name="Text 8"/>
          <p:cNvSpPr/>
          <p:nvPr/>
        </p:nvSpPr>
        <p:spPr>
          <a:xfrm>
            <a:off x="5715000" y="868680"/>
            <a:ext cx="1188720" cy="11887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ATC</a:t>
            </a:r>
            <a:endParaRPr lang="en-US" sz="1600" dirty="0"/>
          </a:p>
        </p:txBody>
      </p:sp>
      <p:sp>
        <p:nvSpPr>
          <p:cNvPr id="11" name="Shape 9"/>
          <p:cNvSpPr/>
          <p:nvPr/>
        </p:nvSpPr>
        <p:spPr>
          <a:xfrm>
            <a:off x="7178040" y="868680"/>
            <a:ext cx="1188720" cy="1188720"/>
          </a:xfrm>
          <a:prstGeom prst="ellipse">
            <a:avLst/>
          </a:prstGeom>
          <a:solidFill>
            <a:srgbClr val="E4572E"/>
          </a:solidFill>
          <a:ln w="12700">
            <a:solidFill>
              <a:srgbClr val="E4572E"/>
            </a:solidFill>
            <a:prstDash val="solid"/>
          </a:ln>
        </p:spPr>
      </p:sp>
      <p:sp>
        <p:nvSpPr>
          <p:cNvPr id="12" name="Text 10"/>
          <p:cNvSpPr/>
          <p:nvPr/>
        </p:nvSpPr>
        <p:spPr>
          <a:xfrm>
            <a:off x="7178040" y="868680"/>
            <a:ext cx="1188720" cy="11887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PILOT</a:t>
            </a:r>
            <a:endParaRPr lang="en-US" sz="1600" dirty="0"/>
          </a:p>
        </p:txBody>
      </p:sp>
      <p:sp>
        <p:nvSpPr>
          <p:cNvPr id="13" name="Shape 11"/>
          <p:cNvSpPr/>
          <p:nvPr/>
        </p:nvSpPr>
        <p:spPr>
          <a:xfrm>
            <a:off x="6446520" y="2331720"/>
            <a:ext cx="1188720" cy="1188720"/>
          </a:xfrm>
          <a:prstGeom prst="ellipse">
            <a:avLst/>
          </a:prstGeom>
          <a:solidFill>
            <a:srgbClr val="2E9E5B"/>
          </a:solidFill>
          <a:ln w="12700">
            <a:solidFill>
              <a:srgbClr val="2E9E5B"/>
            </a:solidFill>
            <a:prstDash val="solid"/>
          </a:ln>
        </p:spPr>
      </p:sp>
      <p:sp>
        <p:nvSpPr>
          <p:cNvPr id="14" name="Text 12"/>
          <p:cNvSpPr/>
          <p:nvPr/>
        </p:nvSpPr>
        <p:spPr>
          <a:xfrm>
            <a:off x="6446520" y="2331720"/>
            <a:ext cx="1188720" cy="11887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GROUND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0F1B2D"/>
                </a:solidFill>
                <a:latin typeface="Cambria" pitchFamily="34" charset="0"/>
                <a:ea typeface="Cambria" pitchFamily="34" charset="-122"/>
                <a:cs typeface="Cambria" pitchFamily="34" charset="-120"/>
              </a:rPr>
              <a:t>Today: one manager, three phone calls</a:t>
            </a:r>
            <a:endParaRPr lang="en-US" sz="2800" dirty="0"/>
          </a:p>
        </p:txBody>
      </p:sp>
      <p:sp>
        <p:nvSpPr>
          <p:cNvPr id="3" name="Shape 1"/>
          <p:cNvSpPr/>
          <p:nvPr/>
        </p:nvSpPr>
        <p:spPr>
          <a:xfrm flipV="1">
            <a:off x="2057400" y="1737360"/>
            <a:ext cx="1325880" cy="1188720"/>
          </a:xfrm>
          <a:prstGeom prst="line">
            <a:avLst/>
          </a:prstGeom>
          <a:noFill/>
          <a:ln w="25400">
            <a:solidFill>
              <a:srgbClr val="C9D3DF"/>
            </a:solidFill>
            <a:prstDash val="solid"/>
          </a:ln>
        </p:spPr>
      </p:sp>
      <p:sp>
        <p:nvSpPr>
          <p:cNvPr id="4" name="Shape 2"/>
          <p:cNvSpPr/>
          <p:nvPr/>
        </p:nvSpPr>
        <p:spPr>
          <a:xfrm>
            <a:off x="2057400" y="2926080"/>
            <a:ext cx="1325880" cy="0"/>
          </a:xfrm>
          <a:prstGeom prst="line">
            <a:avLst/>
          </a:prstGeom>
          <a:noFill/>
          <a:ln w="25400">
            <a:solidFill>
              <a:srgbClr val="C9D3DF"/>
            </a:solidFill>
            <a:prstDash val="solid"/>
          </a:ln>
        </p:spPr>
      </p:sp>
      <p:sp>
        <p:nvSpPr>
          <p:cNvPr id="5" name="Shape 3"/>
          <p:cNvSpPr/>
          <p:nvPr/>
        </p:nvSpPr>
        <p:spPr>
          <a:xfrm>
            <a:off x="2057400" y="2926080"/>
            <a:ext cx="1325880" cy="1188720"/>
          </a:xfrm>
          <a:prstGeom prst="line">
            <a:avLst/>
          </a:prstGeom>
          <a:noFill/>
          <a:ln w="25400">
            <a:solidFill>
              <a:srgbClr val="C9D3DF"/>
            </a:solidFill>
            <a:prstDash val="solid"/>
          </a:ln>
        </p:spPr>
      </p:sp>
      <p:sp>
        <p:nvSpPr>
          <p:cNvPr id="6" name="Shape 4"/>
          <p:cNvSpPr/>
          <p:nvPr/>
        </p:nvSpPr>
        <p:spPr>
          <a:xfrm>
            <a:off x="868680" y="2331720"/>
            <a:ext cx="1188720" cy="1188720"/>
          </a:xfrm>
          <a:prstGeom prst="ellipse">
            <a:avLst/>
          </a:prstGeom>
          <a:solidFill>
            <a:srgbClr val="0F1B2D"/>
          </a:solidFill>
          <a:ln w="12700">
            <a:solidFill>
              <a:srgbClr val="0F1B2D"/>
            </a:solidFill>
            <a:prstDash val="solid"/>
          </a:ln>
        </p:spPr>
      </p:sp>
      <p:sp>
        <p:nvSpPr>
          <p:cNvPr id="7" name="Text 5"/>
          <p:cNvSpPr/>
          <p:nvPr/>
        </p:nvSpPr>
        <p:spPr>
          <a:xfrm>
            <a:off x="868680" y="2331720"/>
            <a:ext cx="1188720" cy="11887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Duty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manager</a:t>
            </a:r>
            <a:endParaRPr lang="en-US" sz="1300" dirty="0"/>
          </a:p>
        </p:txBody>
      </p:sp>
      <p:sp>
        <p:nvSpPr>
          <p:cNvPr id="8" name="Shape 6"/>
          <p:cNvSpPr/>
          <p:nvPr/>
        </p:nvSpPr>
        <p:spPr>
          <a:xfrm>
            <a:off x="3383280" y="1280160"/>
            <a:ext cx="914400" cy="914400"/>
          </a:xfrm>
          <a:prstGeom prst="ellipse">
            <a:avLst/>
          </a:prstGeom>
          <a:solidFill>
            <a:srgbClr val="2E86AB"/>
          </a:solidFill>
          <a:ln w="12700">
            <a:solidFill>
              <a:srgbClr val="2E86AB"/>
            </a:solidFill>
            <a:prstDash val="solid"/>
          </a:ln>
        </p:spPr>
      </p:sp>
      <p:sp>
        <p:nvSpPr>
          <p:cNvPr id="9" name="Text 7"/>
          <p:cNvSpPr/>
          <p:nvPr/>
        </p:nvSpPr>
        <p:spPr>
          <a:xfrm>
            <a:off x="3383280" y="1280160"/>
            <a:ext cx="914400" cy="9144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ATC</a:t>
            </a:r>
            <a:endParaRPr lang="en-US" sz="1300" dirty="0"/>
          </a:p>
        </p:txBody>
      </p:sp>
      <p:sp>
        <p:nvSpPr>
          <p:cNvPr id="10" name="Text 8"/>
          <p:cNvSpPr/>
          <p:nvPr/>
        </p:nvSpPr>
        <p:spPr>
          <a:xfrm>
            <a:off x="4480560" y="1508760"/>
            <a:ext cx="2377440" cy="457200"/>
          </a:xfrm>
          <a:prstGeom prst="rect">
            <a:avLst/>
          </a:prstGeom>
          <a:noFill/>
          <a:ln/>
        </p:spPr>
        <p:txBody>
          <a:bodyPr wrap="square" lIns="0" tIns="0" rIns="0" bIns="0" rtlCol="0" anchor="ctr"/>
          <a:lstStyle/>
          <a:p>
            <a:pPr indent="0" marL="0">
              <a:buNone/>
            </a:pPr>
            <a:r>
              <a:rPr lang="en-US" sz="1500" dirty="0">
                <a:solidFill>
                  <a:srgbClr val="0F1B2D"/>
                </a:solidFill>
                <a:latin typeface="Calibri" pitchFamily="34" charset="0"/>
                <a:ea typeface="Calibri" pitchFamily="34" charset="-122"/>
                <a:cs typeface="Calibri" pitchFamily="34" charset="-120"/>
              </a:rPr>
              <a:t>throughput and separation</a:t>
            </a:r>
            <a:endParaRPr lang="en-US" sz="1500" dirty="0"/>
          </a:p>
        </p:txBody>
      </p:sp>
      <p:sp>
        <p:nvSpPr>
          <p:cNvPr id="11" name="Shape 9"/>
          <p:cNvSpPr/>
          <p:nvPr/>
        </p:nvSpPr>
        <p:spPr>
          <a:xfrm>
            <a:off x="3383280" y="2468880"/>
            <a:ext cx="914400" cy="914400"/>
          </a:xfrm>
          <a:prstGeom prst="ellipse">
            <a:avLst/>
          </a:prstGeom>
          <a:solidFill>
            <a:srgbClr val="E4572E"/>
          </a:solidFill>
          <a:ln w="12700">
            <a:solidFill>
              <a:srgbClr val="E4572E"/>
            </a:solidFill>
            <a:prstDash val="solid"/>
          </a:ln>
        </p:spPr>
      </p:sp>
      <p:sp>
        <p:nvSpPr>
          <p:cNvPr id="12" name="Text 10"/>
          <p:cNvSpPr/>
          <p:nvPr/>
        </p:nvSpPr>
        <p:spPr>
          <a:xfrm>
            <a:off x="3383280" y="2468880"/>
            <a:ext cx="914400" cy="9144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PILOT</a:t>
            </a:r>
            <a:endParaRPr lang="en-US" sz="1300" dirty="0"/>
          </a:p>
        </p:txBody>
      </p:sp>
      <p:sp>
        <p:nvSpPr>
          <p:cNvPr id="13" name="Text 11"/>
          <p:cNvSpPr/>
          <p:nvPr/>
        </p:nvSpPr>
        <p:spPr>
          <a:xfrm>
            <a:off x="4480560" y="2697480"/>
            <a:ext cx="2377440" cy="457200"/>
          </a:xfrm>
          <a:prstGeom prst="rect">
            <a:avLst/>
          </a:prstGeom>
          <a:noFill/>
          <a:ln/>
        </p:spPr>
        <p:txBody>
          <a:bodyPr wrap="square" lIns="0" tIns="0" rIns="0" bIns="0" rtlCol="0" anchor="ctr"/>
          <a:lstStyle/>
          <a:p>
            <a:pPr indent="0" marL="0">
              <a:buNone/>
            </a:pPr>
            <a:r>
              <a:rPr lang="en-US" sz="1500" dirty="0">
                <a:solidFill>
                  <a:srgbClr val="0F1B2D"/>
                </a:solidFill>
                <a:latin typeface="Calibri" pitchFamily="34" charset="0"/>
                <a:ea typeface="Calibri" pitchFamily="34" charset="-122"/>
                <a:cs typeface="Calibri" pitchFamily="34" charset="-120"/>
              </a:rPr>
              <a:t>fuel and safety</a:t>
            </a:r>
            <a:endParaRPr lang="en-US" sz="1500" dirty="0"/>
          </a:p>
        </p:txBody>
      </p:sp>
      <p:sp>
        <p:nvSpPr>
          <p:cNvPr id="14" name="Shape 12"/>
          <p:cNvSpPr/>
          <p:nvPr/>
        </p:nvSpPr>
        <p:spPr>
          <a:xfrm>
            <a:off x="3383280" y="3657600"/>
            <a:ext cx="914400" cy="914400"/>
          </a:xfrm>
          <a:prstGeom prst="ellipse">
            <a:avLst/>
          </a:prstGeom>
          <a:solidFill>
            <a:srgbClr val="2E9E5B"/>
          </a:solidFill>
          <a:ln w="12700">
            <a:solidFill>
              <a:srgbClr val="2E9E5B"/>
            </a:solidFill>
            <a:prstDash val="solid"/>
          </a:ln>
        </p:spPr>
      </p:sp>
      <p:sp>
        <p:nvSpPr>
          <p:cNvPr id="15" name="Text 13"/>
          <p:cNvSpPr/>
          <p:nvPr/>
        </p:nvSpPr>
        <p:spPr>
          <a:xfrm>
            <a:off x="3383280" y="3657600"/>
            <a:ext cx="914400" cy="9144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GROUND</a:t>
            </a:r>
            <a:endParaRPr lang="en-US" sz="1100" dirty="0"/>
          </a:p>
        </p:txBody>
      </p:sp>
      <p:sp>
        <p:nvSpPr>
          <p:cNvPr id="16" name="Text 14"/>
          <p:cNvSpPr/>
          <p:nvPr/>
        </p:nvSpPr>
        <p:spPr>
          <a:xfrm>
            <a:off x="4480560" y="3886200"/>
            <a:ext cx="2377440" cy="457200"/>
          </a:xfrm>
          <a:prstGeom prst="rect">
            <a:avLst/>
          </a:prstGeom>
          <a:noFill/>
          <a:ln/>
        </p:spPr>
        <p:txBody>
          <a:bodyPr wrap="square" lIns="0" tIns="0" rIns="0" bIns="0" rtlCol="0" anchor="ctr"/>
          <a:lstStyle/>
          <a:p>
            <a:pPr indent="0" marL="0">
              <a:buNone/>
            </a:pPr>
            <a:r>
              <a:rPr lang="en-US" sz="1500" dirty="0">
                <a:solidFill>
                  <a:srgbClr val="0F1B2D"/>
                </a:solidFill>
                <a:latin typeface="Calibri" pitchFamily="34" charset="0"/>
                <a:ea typeface="Calibri" pitchFamily="34" charset="-122"/>
                <a:cs typeface="Calibri" pitchFamily="34" charset="-120"/>
              </a:rPr>
              <a:t>gates and crew</a:t>
            </a:r>
            <a:endParaRPr lang="en-US" sz="1500" dirty="0"/>
          </a:p>
        </p:txBody>
      </p:sp>
      <p:sp>
        <p:nvSpPr>
          <p:cNvPr id="17" name="Shape 15"/>
          <p:cNvSpPr/>
          <p:nvPr/>
        </p:nvSpPr>
        <p:spPr>
          <a:xfrm>
            <a:off x="7040880" y="2011680"/>
            <a:ext cx="1554480" cy="1828800"/>
          </a:xfrm>
          <a:prstGeom prst="roundRect">
            <a:avLst>
              <a:gd name="adj" fmla="val 7059"/>
            </a:avLst>
          </a:prstGeom>
          <a:solidFill>
            <a:srgbClr val="F1F4F7"/>
          </a:solidFill>
          <a:ln w="12700">
            <a:solidFill>
              <a:srgbClr val="F1F4F7"/>
            </a:solidFill>
            <a:prstDash val="solid"/>
          </a:ln>
        </p:spPr>
      </p:sp>
      <p:sp>
        <p:nvSpPr>
          <p:cNvPr id="18" name="Text 16"/>
          <p:cNvSpPr/>
          <p:nvPr/>
        </p:nvSpPr>
        <p:spPr>
          <a:xfrm>
            <a:off x="7040880" y="2194560"/>
            <a:ext cx="1554480" cy="731520"/>
          </a:xfrm>
          <a:prstGeom prst="rect">
            <a:avLst/>
          </a:prstGeom>
          <a:noFill/>
          <a:ln/>
        </p:spPr>
        <p:txBody>
          <a:bodyPr wrap="square" lIns="0" tIns="0" rIns="0" bIns="0" rtlCol="0" anchor="ctr"/>
          <a:lstStyle/>
          <a:p>
            <a:pPr algn="ctr" indent="0" marL="0">
              <a:buNone/>
            </a:pPr>
            <a:r>
              <a:rPr lang="en-US" sz="3800" b="1" dirty="0">
                <a:solidFill>
                  <a:srgbClr val="0F1B2D"/>
                </a:solidFill>
                <a:latin typeface="Cambria" pitchFamily="34" charset="0"/>
                <a:ea typeface="Cambria" pitchFamily="34" charset="-122"/>
                <a:cs typeface="Cambria" pitchFamily="34" charset="-120"/>
              </a:rPr>
              <a:t>$98</a:t>
            </a:r>
            <a:endParaRPr lang="en-US" sz="3800" dirty="0"/>
          </a:p>
        </p:txBody>
      </p:sp>
      <p:sp>
        <p:nvSpPr>
          <p:cNvPr id="19" name="Text 17"/>
          <p:cNvSpPr/>
          <p:nvPr/>
        </p:nvSpPr>
        <p:spPr>
          <a:xfrm>
            <a:off x="7132320" y="2926080"/>
            <a:ext cx="1371600" cy="457200"/>
          </a:xfrm>
          <a:prstGeom prst="rect">
            <a:avLst/>
          </a:prstGeom>
          <a:noFill/>
          <a:ln/>
        </p:spPr>
        <p:txBody>
          <a:bodyPr wrap="square" lIns="0" tIns="0" rIns="0" bIns="0" rtlCol="0" anchor="ctr"/>
          <a:lstStyle/>
          <a:p>
            <a:pPr algn="ctr" indent="0" marL="0">
              <a:buNone/>
            </a:pPr>
            <a:r>
              <a:rPr lang="en-US" sz="1200" dirty="0">
                <a:solidFill>
                  <a:srgbClr val="5B6770"/>
                </a:solidFill>
                <a:latin typeface="Calibri" pitchFamily="34" charset="0"/>
                <a:ea typeface="Calibri" pitchFamily="34" charset="-122"/>
                <a:cs typeface="Calibri" pitchFamily="34" charset="-120"/>
              </a:rPr>
              <a:t>per minute of delay</a:t>
            </a:r>
            <a:endParaRPr lang="en-US" sz="1200" dirty="0"/>
          </a:p>
        </p:txBody>
      </p:sp>
      <p:sp>
        <p:nvSpPr>
          <p:cNvPr id="20" name="Text 18"/>
          <p:cNvSpPr/>
          <p:nvPr/>
        </p:nvSpPr>
        <p:spPr>
          <a:xfrm>
            <a:off x="7132320" y="3429000"/>
            <a:ext cx="1371600" cy="274320"/>
          </a:xfrm>
          <a:prstGeom prst="rect">
            <a:avLst/>
          </a:prstGeom>
          <a:noFill/>
          <a:ln/>
        </p:spPr>
        <p:txBody>
          <a:bodyPr wrap="square" lIns="0" tIns="0" rIns="0" bIns="0" rtlCol="0" anchor="ctr"/>
          <a:lstStyle/>
          <a:p>
            <a:pPr algn="ctr" indent="0" marL="0">
              <a:buNone/>
            </a:pPr>
            <a:r>
              <a:rPr lang="en-US" sz="1000" dirty="0">
                <a:solidFill>
                  <a:srgbClr val="5B6770"/>
                </a:solidFill>
                <a:latin typeface="Calibri" pitchFamily="34" charset="0"/>
                <a:ea typeface="Calibri" pitchFamily="34" charset="-122"/>
                <a:cs typeface="Calibri" pitchFamily="34" charset="-120"/>
              </a:rPr>
              <a:t>A4A 2025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0F1B2D"/>
                </a:solidFill>
                <a:latin typeface="Cambria" pitchFamily="34" charset="0"/>
                <a:ea typeface="Cambria" pitchFamily="34" charset="-122"/>
                <a:cs typeface="Cambria" pitchFamily="34" charset="-120"/>
              </a:rPr>
              <a:t>Private data. One code mediator.</a:t>
            </a:r>
            <a:endParaRPr lang="en-US" sz="2800" dirty="0"/>
          </a:p>
        </p:txBody>
      </p:sp>
      <p:sp>
        <p:nvSpPr>
          <p:cNvPr id="3" name="Shape 1"/>
          <p:cNvSpPr/>
          <p:nvPr/>
        </p:nvSpPr>
        <p:spPr>
          <a:xfrm>
            <a:off x="548640" y="1234440"/>
            <a:ext cx="2743200" cy="868680"/>
          </a:xfrm>
          <a:prstGeom prst="roundRect">
            <a:avLst>
              <a:gd name="adj" fmla="val 12632"/>
            </a:avLst>
          </a:prstGeom>
          <a:solidFill>
            <a:srgbClr val="F1F4F7"/>
          </a:solidFill>
          <a:ln w="12700">
            <a:solidFill>
              <a:srgbClr val="F1F4F7"/>
            </a:solidFill>
            <a:prstDash val="solid"/>
          </a:ln>
        </p:spPr>
      </p:sp>
      <p:sp>
        <p:nvSpPr>
          <p:cNvPr id="4" name="Shape 2"/>
          <p:cNvSpPr/>
          <p:nvPr/>
        </p:nvSpPr>
        <p:spPr>
          <a:xfrm>
            <a:off x="731520" y="1394460"/>
            <a:ext cx="548640" cy="548640"/>
          </a:xfrm>
          <a:prstGeom prst="ellipse">
            <a:avLst/>
          </a:prstGeom>
          <a:solidFill>
            <a:srgbClr val="2E86AB"/>
          </a:solidFill>
          <a:ln w="12700">
            <a:solidFill>
              <a:srgbClr val="2E86AB"/>
            </a:solidFill>
            <a:prstDash val="solid"/>
          </a:ln>
        </p:spPr>
      </p:sp>
      <p:sp>
        <p:nvSpPr>
          <p:cNvPr id="5" name="Text 3"/>
          <p:cNvSpPr/>
          <p:nvPr/>
        </p:nvSpPr>
        <p:spPr>
          <a:xfrm>
            <a:off x="731520" y="13944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p:nvPr/>
        </p:nvSpPr>
        <p:spPr>
          <a:xfrm>
            <a:off x="1417320" y="1234440"/>
            <a:ext cx="1828800" cy="868680"/>
          </a:xfrm>
          <a:prstGeom prst="rect">
            <a:avLst/>
          </a:prstGeom>
          <a:noFill/>
          <a:ln/>
        </p:spPr>
        <p:txBody>
          <a:bodyPr wrap="square" lIns="0" tIns="0" rIns="0" bIns="0" rtlCol="0" anchor="ctr"/>
          <a:lstStyle/>
          <a:p>
            <a:pPr indent="0" marL="0">
              <a:buNone/>
            </a:pPr>
            <a:r>
              <a:rPr lang="en-US" sz="1400" b="1" dirty="0">
                <a:solidFill>
                  <a:srgbClr val="0F1B2D"/>
                </a:solidFill>
                <a:latin typeface="Calibri" pitchFamily="34" charset="0"/>
                <a:ea typeface="Calibri" pitchFamily="34" charset="-122"/>
                <a:cs typeface="Calibri" pitchFamily="34" charset="-120"/>
              </a:rPr>
              <a:t>ATC</a:t>
            </a:r>
            <a:endParaRPr lang="en-US" sz="1400" dirty="0"/>
          </a:p>
          <a:p>
            <a:pPr indent="0" marL="0">
              <a:buNone/>
            </a:pPr>
            <a:r>
              <a:rPr lang="en-US" sz="1200" dirty="0">
                <a:solidFill>
                  <a:srgbClr val="5B6770"/>
                </a:solidFill>
                <a:latin typeface="Calibri" pitchFamily="34" charset="0"/>
                <a:ea typeface="Calibri" pitchFamily="34" charset="-122"/>
                <a:cs typeface="Calibri" pitchFamily="34" charset="-120"/>
              </a:rPr>
              <a:t>slots · capacity</a:t>
            </a:r>
            <a:endParaRPr lang="en-US" sz="1400" dirty="0"/>
          </a:p>
        </p:txBody>
      </p:sp>
      <p:sp>
        <p:nvSpPr>
          <p:cNvPr id="7" name="Shape 5"/>
          <p:cNvSpPr/>
          <p:nvPr/>
        </p:nvSpPr>
        <p:spPr>
          <a:xfrm>
            <a:off x="3291840" y="1668780"/>
            <a:ext cx="731520" cy="1028700"/>
          </a:xfrm>
          <a:prstGeom prst="line">
            <a:avLst/>
          </a:prstGeom>
          <a:noFill/>
          <a:ln w="19050">
            <a:solidFill>
              <a:srgbClr val="5B6770"/>
            </a:solidFill>
            <a:prstDash val="solid"/>
            <a:tailEnd type="triangle"/>
          </a:ln>
        </p:spPr>
      </p:sp>
      <p:sp>
        <p:nvSpPr>
          <p:cNvPr id="8" name="Shape 6"/>
          <p:cNvSpPr/>
          <p:nvPr/>
        </p:nvSpPr>
        <p:spPr>
          <a:xfrm>
            <a:off x="548640" y="2286000"/>
            <a:ext cx="2743200" cy="868680"/>
          </a:xfrm>
          <a:prstGeom prst="roundRect">
            <a:avLst>
              <a:gd name="adj" fmla="val 12632"/>
            </a:avLst>
          </a:prstGeom>
          <a:solidFill>
            <a:srgbClr val="F1F4F7"/>
          </a:solidFill>
          <a:ln w="12700">
            <a:solidFill>
              <a:srgbClr val="F1F4F7"/>
            </a:solidFill>
            <a:prstDash val="solid"/>
          </a:ln>
        </p:spPr>
      </p:sp>
      <p:sp>
        <p:nvSpPr>
          <p:cNvPr id="9" name="Shape 7"/>
          <p:cNvSpPr/>
          <p:nvPr/>
        </p:nvSpPr>
        <p:spPr>
          <a:xfrm>
            <a:off x="731520" y="2446020"/>
            <a:ext cx="548640" cy="548640"/>
          </a:xfrm>
          <a:prstGeom prst="ellipse">
            <a:avLst/>
          </a:prstGeom>
          <a:solidFill>
            <a:srgbClr val="E4572E"/>
          </a:solidFill>
          <a:ln w="12700">
            <a:solidFill>
              <a:srgbClr val="E4572E"/>
            </a:solidFill>
            <a:prstDash val="solid"/>
          </a:ln>
        </p:spPr>
      </p:sp>
      <p:sp>
        <p:nvSpPr>
          <p:cNvPr id="10" name="Text 8"/>
          <p:cNvSpPr/>
          <p:nvPr/>
        </p:nvSpPr>
        <p:spPr>
          <a:xfrm>
            <a:off x="731520" y="24460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t>
            </a:r>
            <a:endParaRPr lang="en-US" sz="1800" dirty="0"/>
          </a:p>
        </p:txBody>
      </p:sp>
      <p:sp>
        <p:nvSpPr>
          <p:cNvPr id="11" name="Text 9"/>
          <p:cNvSpPr/>
          <p:nvPr/>
        </p:nvSpPr>
        <p:spPr>
          <a:xfrm>
            <a:off x="1417320" y="2286000"/>
            <a:ext cx="1828800" cy="868680"/>
          </a:xfrm>
          <a:prstGeom prst="rect">
            <a:avLst/>
          </a:prstGeom>
          <a:noFill/>
          <a:ln/>
        </p:spPr>
        <p:txBody>
          <a:bodyPr wrap="square" lIns="0" tIns="0" rIns="0" bIns="0" rtlCol="0" anchor="ctr"/>
          <a:lstStyle/>
          <a:p>
            <a:pPr indent="0" marL="0">
              <a:buNone/>
            </a:pPr>
            <a:r>
              <a:rPr lang="en-US" sz="1400" b="1" dirty="0">
                <a:solidFill>
                  <a:srgbClr val="0F1B2D"/>
                </a:solidFill>
                <a:latin typeface="Calibri" pitchFamily="34" charset="0"/>
                <a:ea typeface="Calibri" pitchFamily="34" charset="-122"/>
                <a:cs typeface="Calibri" pitchFamily="34" charset="-120"/>
              </a:rPr>
              <a:t>PILOT</a:t>
            </a:r>
            <a:endParaRPr lang="en-US" sz="1400" dirty="0"/>
          </a:p>
          <a:p>
            <a:pPr indent="0" marL="0">
              <a:buNone/>
            </a:pPr>
            <a:r>
              <a:rPr lang="en-US" sz="1200" dirty="0">
                <a:solidFill>
                  <a:srgbClr val="5B6770"/>
                </a:solidFill>
                <a:latin typeface="Calibri" pitchFamily="34" charset="0"/>
                <a:ea typeface="Calibri" pitchFamily="34" charset="-122"/>
                <a:cs typeface="Calibri" pitchFamily="34" charset="-120"/>
              </a:rPr>
              <a:t>fuel · crew · connections</a:t>
            </a:r>
            <a:endParaRPr lang="en-US" sz="1400" dirty="0"/>
          </a:p>
        </p:txBody>
      </p:sp>
      <p:sp>
        <p:nvSpPr>
          <p:cNvPr id="12" name="Shape 10"/>
          <p:cNvSpPr/>
          <p:nvPr/>
        </p:nvSpPr>
        <p:spPr>
          <a:xfrm flipV="1">
            <a:off x="3291840" y="2697480"/>
            <a:ext cx="731520" cy="22860"/>
          </a:xfrm>
          <a:prstGeom prst="line">
            <a:avLst/>
          </a:prstGeom>
          <a:noFill/>
          <a:ln w="19050">
            <a:solidFill>
              <a:srgbClr val="5B6770"/>
            </a:solidFill>
            <a:prstDash val="solid"/>
            <a:tailEnd type="triangle"/>
          </a:ln>
        </p:spPr>
      </p:sp>
      <p:sp>
        <p:nvSpPr>
          <p:cNvPr id="13" name="Shape 11"/>
          <p:cNvSpPr/>
          <p:nvPr/>
        </p:nvSpPr>
        <p:spPr>
          <a:xfrm>
            <a:off x="548640" y="3337560"/>
            <a:ext cx="2743200" cy="868680"/>
          </a:xfrm>
          <a:prstGeom prst="roundRect">
            <a:avLst>
              <a:gd name="adj" fmla="val 12632"/>
            </a:avLst>
          </a:prstGeom>
          <a:solidFill>
            <a:srgbClr val="F1F4F7"/>
          </a:solidFill>
          <a:ln w="12700">
            <a:solidFill>
              <a:srgbClr val="F1F4F7"/>
            </a:solidFill>
            <a:prstDash val="solid"/>
          </a:ln>
        </p:spPr>
      </p:sp>
      <p:sp>
        <p:nvSpPr>
          <p:cNvPr id="14" name="Shape 12"/>
          <p:cNvSpPr/>
          <p:nvPr/>
        </p:nvSpPr>
        <p:spPr>
          <a:xfrm>
            <a:off x="731520" y="3497580"/>
            <a:ext cx="548640" cy="548640"/>
          </a:xfrm>
          <a:prstGeom prst="ellipse">
            <a:avLst/>
          </a:prstGeom>
          <a:solidFill>
            <a:srgbClr val="2E9E5B"/>
          </a:solidFill>
          <a:ln w="12700">
            <a:solidFill>
              <a:srgbClr val="2E9E5B"/>
            </a:solidFill>
            <a:prstDash val="solid"/>
          </a:ln>
        </p:spPr>
      </p:sp>
      <p:sp>
        <p:nvSpPr>
          <p:cNvPr id="15" name="Text 13"/>
          <p:cNvSpPr/>
          <p:nvPr/>
        </p:nvSpPr>
        <p:spPr>
          <a:xfrm>
            <a:off x="731520" y="34975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a:t>
            </a:r>
            <a:endParaRPr lang="en-US" sz="1800" dirty="0"/>
          </a:p>
        </p:txBody>
      </p:sp>
      <p:sp>
        <p:nvSpPr>
          <p:cNvPr id="16" name="Text 14"/>
          <p:cNvSpPr/>
          <p:nvPr/>
        </p:nvSpPr>
        <p:spPr>
          <a:xfrm>
            <a:off x="1417320" y="3337560"/>
            <a:ext cx="1828800" cy="868680"/>
          </a:xfrm>
          <a:prstGeom prst="rect">
            <a:avLst/>
          </a:prstGeom>
          <a:noFill/>
          <a:ln/>
        </p:spPr>
        <p:txBody>
          <a:bodyPr wrap="square" lIns="0" tIns="0" rIns="0" bIns="0" rtlCol="0" anchor="ctr"/>
          <a:lstStyle/>
          <a:p>
            <a:pPr indent="0" marL="0">
              <a:buNone/>
            </a:pPr>
            <a:r>
              <a:rPr lang="en-US" sz="1400" b="1" dirty="0">
                <a:solidFill>
                  <a:srgbClr val="0F1B2D"/>
                </a:solidFill>
                <a:latin typeface="Calibri" pitchFamily="34" charset="0"/>
                <a:ea typeface="Calibri" pitchFamily="34" charset="-122"/>
                <a:cs typeface="Calibri" pitchFamily="34" charset="-120"/>
              </a:rPr>
              <a:t>GROUND</a:t>
            </a:r>
            <a:endParaRPr lang="en-US" sz="1400" dirty="0"/>
          </a:p>
          <a:p>
            <a:pPr indent="0" marL="0">
              <a:buNone/>
            </a:pPr>
            <a:r>
              <a:rPr lang="en-US" sz="1200" dirty="0">
                <a:solidFill>
                  <a:srgbClr val="5B6770"/>
                </a:solidFill>
                <a:latin typeface="Calibri" pitchFamily="34" charset="0"/>
                <a:ea typeface="Calibri" pitchFamily="34" charset="-122"/>
                <a:cs typeface="Calibri" pitchFamily="34" charset="-120"/>
              </a:rPr>
              <a:t>gates · crew shift</a:t>
            </a:r>
            <a:endParaRPr lang="en-US" sz="1400" dirty="0"/>
          </a:p>
        </p:txBody>
      </p:sp>
      <p:sp>
        <p:nvSpPr>
          <p:cNvPr id="17" name="Shape 15"/>
          <p:cNvSpPr/>
          <p:nvPr/>
        </p:nvSpPr>
        <p:spPr>
          <a:xfrm flipV="1">
            <a:off x="3291840" y="2697480"/>
            <a:ext cx="731520" cy="1074420"/>
          </a:xfrm>
          <a:prstGeom prst="line">
            <a:avLst/>
          </a:prstGeom>
          <a:noFill/>
          <a:ln w="19050">
            <a:solidFill>
              <a:srgbClr val="5B6770"/>
            </a:solidFill>
            <a:prstDash val="solid"/>
            <a:tailEnd type="triangle"/>
          </a:ln>
        </p:spPr>
      </p:sp>
      <p:sp>
        <p:nvSpPr>
          <p:cNvPr id="18" name="Shape 16"/>
          <p:cNvSpPr/>
          <p:nvPr/>
        </p:nvSpPr>
        <p:spPr>
          <a:xfrm>
            <a:off x="4023360" y="1234440"/>
            <a:ext cx="2194560" cy="2971800"/>
          </a:xfrm>
          <a:prstGeom prst="roundRect">
            <a:avLst>
              <a:gd name="adj" fmla="val 5000"/>
            </a:avLst>
          </a:prstGeom>
          <a:solidFill>
            <a:srgbClr val="0F1B2D"/>
          </a:solidFill>
          <a:ln w="12700">
            <a:solidFill>
              <a:srgbClr val="0F1B2D"/>
            </a:solidFill>
            <a:prstDash val="solid"/>
          </a:ln>
        </p:spPr>
      </p:sp>
      <p:sp>
        <p:nvSpPr>
          <p:cNvPr id="19" name="Text 17"/>
          <p:cNvSpPr/>
          <p:nvPr/>
        </p:nvSpPr>
        <p:spPr>
          <a:xfrm>
            <a:off x="4023360" y="1234440"/>
            <a:ext cx="2194560" cy="297180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MEDIATOR</a:t>
            </a:r>
            <a:endParaRPr lang="en-US" sz="2200" dirty="0"/>
          </a:p>
          <a:p>
            <a:pPr algn="ctr" indent="0" marL="0">
              <a:buNone/>
            </a:pPr>
            <a:r>
              <a:rPr lang="en-US" sz="1300" dirty="0">
                <a:solidFill>
                  <a:srgbClr val="F5A623"/>
                </a:solidFill>
                <a:latin typeface="Calibri" pitchFamily="34" charset="0"/>
                <a:ea typeface="Calibri" pitchFamily="34" charset="-122"/>
                <a:cs typeface="Calibri" pitchFamily="34" charset="-120"/>
              </a:rPr>
              <a:t>plain code, no AI</a:t>
            </a:r>
            <a:endParaRPr lang="en-US" sz="22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2200" dirty="0"/>
          </a:p>
          <a:p>
            <a:pPr algn="ctr" indent="0" marL="0">
              <a:buNone/>
            </a:pPr>
            <a:r>
              <a:rPr lang="en-US" sz="1300" dirty="0">
                <a:solidFill>
                  <a:srgbClr val="C9D3DF"/>
                </a:solidFill>
                <a:latin typeface="Calibri" pitchFamily="34" charset="0"/>
                <a:ea typeface="Calibri" pitchFamily="34" charset="-122"/>
                <a:cs typeface="Calibri" pitchFamily="34" charset="-120"/>
              </a:rPr>
              <a:t>merge · check · pick</a:t>
            </a:r>
            <a:endParaRPr lang="en-US" sz="2200" dirty="0"/>
          </a:p>
        </p:txBody>
      </p:sp>
      <p:sp>
        <p:nvSpPr>
          <p:cNvPr id="20" name="Shape 18"/>
          <p:cNvSpPr/>
          <p:nvPr/>
        </p:nvSpPr>
        <p:spPr>
          <a:xfrm>
            <a:off x="6217920" y="2697480"/>
            <a:ext cx="548640" cy="0"/>
          </a:xfrm>
          <a:prstGeom prst="line">
            <a:avLst/>
          </a:prstGeom>
          <a:noFill/>
          <a:ln w="19050">
            <a:solidFill>
              <a:srgbClr val="5B6770"/>
            </a:solidFill>
            <a:prstDash val="solid"/>
            <a:tailEnd type="triangle"/>
          </a:ln>
        </p:spPr>
      </p:sp>
      <p:sp>
        <p:nvSpPr>
          <p:cNvPr id="21" name="Shape 19"/>
          <p:cNvSpPr/>
          <p:nvPr/>
        </p:nvSpPr>
        <p:spPr>
          <a:xfrm>
            <a:off x="6766560" y="2148840"/>
            <a:ext cx="1828800" cy="1097280"/>
          </a:xfrm>
          <a:prstGeom prst="roundRect">
            <a:avLst>
              <a:gd name="adj" fmla="val 10000"/>
            </a:avLst>
          </a:prstGeom>
          <a:solidFill>
            <a:srgbClr val="F1F4F7"/>
          </a:solidFill>
          <a:ln w="12700">
            <a:solidFill>
              <a:srgbClr val="F1F4F7"/>
            </a:solidFill>
            <a:prstDash val="solid"/>
          </a:ln>
        </p:spPr>
      </p:sp>
      <p:sp>
        <p:nvSpPr>
          <p:cNvPr id="22" name="Text 20"/>
          <p:cNvSpPr/>
          <p:nvPr/>
        </p:nvSpPr>
        <p:spPr>
          <a:xfrm>
            <a:off x="6766560" y="2148840"/>
            <a:ext cx="1828800" cy="1097280"/>
          </a:xfrm>
          <a:prstGeom prst="rect">
            <a:avLst/>
          </a:prstGeom>
          <a:noFill/>
          <a:ln/>
        </p:spPr>
        <p:txBody>
          <a:bodyPr wrap="square" lIns="0" tIns="0" rIns="0" bIns="0" rtlCol="0" anchor="ctr"/>
          <a:lstStyle/>
          <a:p>
            <a:pPr algn="ctr" indent="0" marL="0">
              <a:buNone/>
            </a:pPr>
            <a:r>
              <a:rPr lang="en-US" sz="1600" b="1" dirty="0">
                <a:solidFill>
                  <a:srgbClr val="0F1B2D"/>
                </a:solidFill>
                <a:latin typeface="Calibri" pitchFamily="34" charset="0"/>
                <a:ea typeface="Calibri" pitchFamily="34" charset="-122"/>
                <a:cs typeface="Calibri" pitchFamily="34" charset="-120"/>
              </a:rPr>
              <a:t>One plan</a:t>
            </a:r>
            <a:endParaRPr lang="en-US" sz="1600" dirty="0"/>
          </a:p>
          <a:p>
            <a:pPr algn="ctr" indent="0" marL="0">
              <a:buNone/>
            </a:pPr>
            <a:r>
              <a:rPr lang="en-US" sz="1300" dirty="0">
                <a:solidFill>
                  <a:srgbClr val="5B6770"/>
                </a:solidFill>
                <a:latin typeface="Calibri" pitchFamily="34" charset="0"/>
                <a:ea typeface="Calibri" pitchFamily="34" charset="-122"/>
                <a:cs typeface="Calibri" pitchFamily="34" charset="-120"/>
              </a:rPr>
              <a:t>human approves</a:t>
            </a:r>
            <a:endParaRPr lang="en-US" sz="1600" dirty="0"/>
          </a:p>
        </p:txBody>
      </p:sp>
      <p:sp>
        <p:nvSpPr>
          <p:cNvPr id="23" name="Shape 21"/>
          <p:cNvSpPr/>
          <p:nvPr/>
        </p:nvSpPr>
        <p:spPr>
          <a:xfrm>
            <a:off x="548640" y="4434840"/>
            <a:ext cx="3931920" cy="411480"/>
          </a:xfrm>
          <a:prstGeom prst="roundRect">
            <a:avLst>
              <a:gd name="adj" fmla="val 26667"/>
            </a:avLst>
          </a:prstGeom>
          <a:solidFill>
            <a:srgbClr val="F1F4F7"/>
          </a:solidFill>
          <a:ln w="12700">
            <a:solidFill>
              <a:srgbClr val="F1F4F7"/>
            </a:solidFill>
            <a:prstDash val="solid"/>
          </a:ln>
        </p:spPr>
      </p:sp>
      <p:sp>
        <p:nvSpPr>
          <p:cNvPr id="24" name="Text 22"/>
          <p:cNvSpPr/>
          <p:nvPr/>
        </p:nvSpPr>
        <p:spPr>
          <a:xfrm>
            <a:off x="548640" y="4434840"/>
            <a:ext cx="3931920" cy="411480"/>
          </a:xfrm>
          <a:prstGeom prst="rect">
            <a:avLst/>
          </a:prstGeom>
          <a:noFill/>
          <a:ln/>
        </p:spPr>
        <p:txBody>
          <a:bodyPr wrap="square" lIns="0" tIns="0" rIns="0" bIns="0" rtlCol="0" anchor="ctr"/>
          <a:lstStyle/>
          <a:p>
            <a:pPr algn="ctr" indent="0" marL="0">
              <a:buNone/>
            </a:pPr>
            <a:r>
              <a:rPr lang="en-US" sz="1400" b="1" dirty="0">
                <a:solidFill>
                  <a:srgbClr val="0F1B2D"/>
                </a:solidFill>
                <a:latin typeface="Calibri" pitchFamily="34" charset="0"/>
                <a:ea typeface="Calibri" pitchFamily="34" charset="-122"/>
                <a:cs typeface="Calibri" pitchFamily="34" charset="-120"/>
              </a:rPr>
              <a:t>Claude: reasons and explains</a:t>
            </a:r>
            <a:endParaRPr lang="en-US" sz="1400" dirty="0"/>
          </a:p>
        </p:txBody>
      </p:sp>
      <p:sp>
        <p:nvSpPr>
          <p:cNvPr id="25" name="Shape 23"/>
          <p:cNvSpPr/>
          <p:nvPr/>
        </p:nvSpPr>
        <p:spPr>
          <a:xfrm>
            <a:off x="4663440" y="4434840"/>
            <a:ext cx="3931920" cy="411480"/>
          </a:xfrm>
          <a:prstGeom prst="roundRect">
            <a:avLst>
              <a:gd name="adj" fmla="val 26667"/>
            </a:avLst>
          </a:prstGeom>
          <a:solidFill>
            <a:srgbClr val="0F1B2D"/>
          </a:solidFill>
          <a:ln w="12700">
            <a:solidFill>
              <a:srgbClr val="0F1B2D"/>
            </a:solidFill>
            <a:prstDash val="solid"/>
          </a:ln>
        </p:spPr>
      </p:sp>
      <p:sp>
        <p:nvSpPr>
          <p:cNvPr id="26" name="Text 24"/>
          <p:cNvSpPr/>
          <p:nvPr/>
        </p:nvSpPr>
        <p:spPr>
          <a:xfrm>
            <a:off x="4663440" y="443484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Code: numbers, safety checks, decisions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0" cy="5143500"/>
          </a:xfrm>
          <a:prstGeom prst="rect">
            <a:avLst/>
          </a:prstGeom>
          <a:solidFill>
            <a:srgbClr val="2E86AB"/>
          </a:solidFill>
          <a:ln w="12700">
            <a:solidFill>
              <a:srgbClr val="2E86AB"/>
            </a:solidFill>
            <a:prstDash val="solid"/>
          </a:ln>
        </p:spPr>
      </p:sp>
      <p:sp>
        <p:nvSpPr>
          <p:cNvPr id="3" name="Shape 1"/>
          <p:cNvSpPr/>
          <p:nvPr/>
        </p:nvSpPr>
        <p:spPr>
          <a:xfrm>
            <a:off x="1005840" y="594360"/>
            <a:ext cx="1188720" cy="1188720"/>
          </a:xfrm>
          <a:prstGeom prst="ellipse">
            <a:avLst/>
          </a:prstGeom>
          <a:solidFill>
            <a:srgbClr val="FFFFFF"/>
          </a:solidFill>
          <a:ln w="12700">
            <a:solidFill>
              <a:srgbClr val="FFFFFF"/>
            </a:solidFill>
            <a:prstDash val="solid"/>
          </a:ln>
        </p:spPr>
      </p:sp>
      <p:sp>
        <p:nvSpPr>
          <p:cNvPr id="4" name="Text 2"/>
          <p:cNvSpPr/>
          <p:nvPr/>
        </p:nvSpPr>
        <p:spPr>
          <a:xfrm>
            <a:off x="1005840" y="594360"/>
            <a:ext cx="1188720" cy="1188720"/>
          </a:xfrm>
          <a:prstGeom prst="rect">
            <a:avLst/>
          </a:prstGeom>
          <a:noFill/>
          <a:ln/>
        </p:spPr>
        <p:txBody>
          <a:bodyPr wrap="square" lIns="0" tIns="0" rIns="0" bIns="0" rtlCol="0" anchor="ctr"/>
          <a:lstStyle/>
          <a:p>
            <a:pPr algn="ctr" indent="0" marL="0">
              <a:buNone/>
            </a:pPr>
            <a:r>
              <a:rPr lang="en-US" sz="4400" b="1" dirty="0">
                <a:solidFill>
                  <a:srgbClr val="2E86AB"/>
                </a:solidFill>
                <a:latin typeface="Calibri" pitchFamily="34" charset="0"/>
                <a:ea typeface="Calibri" pitchFamily="34" charset="-122"/>
                <a:cs typeface="Calibri" pitchFamily="34" charset="-120"/>
              </a:rPr>
              <a:t>A</a:t>
            </a:r>
            <a:endParaRPr lang="en-US" sz="4400" dirty="0"/>
          </a:p>
        </p:txBody>
      </p:sp>
      <p:sp>
        <p:nvSpPr>
          <p:cNvPr id="5" name="Text 3"/>
          <p:cNvSpPr/>
          <p:nvPr/>
        </p:nvSpPr>
        <p:spPr>
          <a:xfrm>
            <a:off x="365760" y="2011680"/>
            <a:ext cx="24688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ATC</a:t>
            </a:r>
            <a:endParaRPr lang="en-US" sz="3400" dirty="0"/>
          </a:p>
        </p:txBody>
      </p:sp>
      <p:sp>
        <p:nvSpPr>
          <p:cNvPr id="6" name="Text 4"/>
          <p:cNvSpPr/>
          <p:nvPr/>
        </p:nvSpPr>
        <p:spPr>
          <a:xfrm>
            <a:off x="365760" y="292608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OWNS</a:t>
            </a:r>
            <a:endParaRPr lang="en-US" sz="1200" dirty="0"/>
          </a:p>
        </p:txBody>
      </p:sp>
      <p:sp>
        <p:nvSpPr>
          <p:cNvPr id="7" name="Text 5"/>
          <p:cNvSpPr/>
          <p:nvPr/>
        </p:nvSpPr>
        <p:spPr>
          <a:xfrm>
            <a:off x="365760" y="3200400"/>
            <a:ext cx="2468880" cy="100584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Arrival slot</a:t>
            </a:r>
            <a:endParaRPr lang="en-US" sz="2000" dirty="0"/>
          </a:p>
        </p:txBody>
      </p:sp>
      <p:sp>
        <p:nvSpPr>
          <p:cNvPr id="8" name="Shape 6"/>
          <p:cNvSpPr/>
          <p:nvPr/>
        </p:nvSpPr>
        <p:spPr>
          <a:xfrm>
            <a:off x="3657600" y="457200"/>
            <a:ext cx="4937760" cy="1051560"/>
          </a:xfrm>
          <a:prstGeom prst="roundRect">
            <a:avLst>
              <a:gd name="adj" fmla="val 10435"/>
            </a:avLst>
          </a:prstGeom>
          <a:solidFill>
            <a:srgbClr val="F1F4F7"/>
          </a:solidFill>
          <a:ln w="12700">
            <a:solidFill>
              <a:srgbClr val="F1F4F7"/>
            </a:solidFill>
            <a:prstDash val="solid"/>
          </a:ln>
        </p:spPr>
      </p:sp>
      <p:sp>
        <p:nvSpPr>
          <p:cNvPr id="9" name="Text 7"/>
          <p:cNvSpPr/>
          <p:nvPr/>
        </p:nvSpPr>
        <p:spPr>
          <a:xfrm>
            <a:off x="3886200" y="45720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SEES ONLY</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Slot grid · hourly capacity · wake separation · other arrivals</a:t>
            </a:r>
            <a:endParaRPr lang="en-US" sz="1100" dirty="0"/>
          </a:p>
        </p:txBody>
      </p:sp>
      <p:sp>
        <p:nvSpPr>
          <p:cNvPr id="10" name="Shape 8"/>
          <p:cNvSpPr/>
          <p:nvPr/>
        </p:nvSpPr>
        <p:spPr>
          <a:xfrm>
            <a:off x="3657600" y="1645920"/>
            <a:ext cx="4937760" cy="1051560"/>
          </a:xfrm>
          <a:prstGeom prst="roundRect">
            <a:avLst>
              <a:gd name="adj" fmla="val 10435"/>
            </a:avLst>
          </a:prstGeom>
          <a:solidFill>
            <a:srgbClr val="F1F4F7"/>
          </a:solidFill>
          <a:ln w="12700">
            <a:solidFill>
              <a:srgbClr val="F1F4F7"/>
            </a:solidFill>
            <a:prstDash val="solid"/>
          </a:ln>
        </p:spPr>
      </p:sp>
      <p:sp>
        <p:nvSpPr>
          <p:cNvPr id="11" name="Text 9"/>
          <p:cNvSpPr/>
          <p:nvPr/>
        </p:nvSpPr>
        <p:spPr>
          <a:xfrm>
            <a:off x="3886200" y="164592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NEVER TRADES</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Wake separation · hourly arrival cap</a:t>
            </a:r>
            <a:endParaRPr lang="en-US" sz="1100" dirty="0"/>
          </a:p>
        </p:txBody>
      </p:sp>
      <p:sp>
        <p:nvSpPr>
          <p:cNvPr id="12" name="Shape 10"/>
          <p:cNvSpPr/>
          <p:nvPr/>
        </p:nvSpPr>
        <p:spPr>
          <a:xfrm>
            <a:off x="3657600" y="2834640"/>
            <a:ext cx="4937760" cy="1051560"/>
          </a:xfrm>
          <a:prstGeom prst="roundRect">
            <a:avLst>
              <a:gd name="adj" fmla="val 10435"/>
            </a:avLst>
          </a:prstGeom>
          <a:solidFill>
            <a:srgbClr val="F1F4F7"/>
          </a:solidFill>
          <a:ln w="12700">
            <a:solidFill>
              <a:srgbClr val="F1F4F7"/>
            </a:solidFill>
            <a:prstDash val="solid"/>
          </a:ln>
        </p:spPr>
      </p:sp>
      <p:sp>
        <p:nvSpPr>
          <p:cNvPr id="13" name="Text 11"/>
          <p:cNvSpPr/>
          <p:nvPr/>
        </p:nvSpPr>
        <p:spPr>
          <a:xfrm>
            <a:off x="3886200" y="283464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CARES ABOUT</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Throughput · lowest total system delay</a:t>
            </a:r>
            <a:endParaRPr lang="en-US" sz="1100" dirty="0"/>
          </a:p>
        </p:txBody>
      </p:sp>
      <p:sp>
        <p:nvSpPr>
          <p:cNvPr id="14" name="Text 12"/>
          <p:cNvSpPr/>
          <p:nvPr/>
        </p:nvSpPr>
        <p:spPr>
          <a:xfrm>
            <a:off x="3657600" y="4114800"/>
            <a:ext cx="4937760" cy="54864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Round 1 output: 10 plans, best to worst, each scored 0 to 1 with a reason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0" cy="5143500"/>
          </a:xfrm>
          <a:prstGeom prst="rect">
            <a:avLst/>
          </a:prstGeom>
          <a:solidFill>
            <a:srgbClr val="E4572E"/>
          </a:solidFill>
          <a:ln w="12700">
            <a:solidFill>
              <a:srgbClr val="E4572E"/>
            </a:solidFill>
            <a:prstDash val="solid"/>
          </a:ln>
        </p:spPr>
      </p:sp>
      <p:sp>
        <p:nvSpPr>
          <p:cNvPr id="3" name="Shape 1"/>
          <p:cNvSpPr/>
          <p:nvPr/>
        </p:nvSpPr>
        <p:spPr>
          <a:xfrm>
            <a:off x="1005840" y="594360"/>
            <a:ext cx="1188720" cy="1188720"/>
          </a:xfrm>
          <a:prstGeom prst="ellipse">
            <a:avLst/>
          </a:prstGeom>
          <a:solidFill>
            <a:srgbClr val="FFFFFF"/>
          </a:solidFill>
          <a:ln w="12700">
            <a:solidFill>
              <a:srgbClr val="FFFFFF"/>
            </a:solidFill>
            <a:prstDash val="solid"/>
          </a:ln>
        </p:spPr>
      </p:sp>
      <p:sp>
        <p:nvSpPr>
          <p:cNvPr id="4" name="Text 2"/>
          <p:cNvSpPr/>
          <p:nvPr/>
        </p:nvSpPr>
        <p:spPr>
          <a:xfrm>
            <a:off x="1005840" y="594360"/>
            <a:ext cx="1188720" cy="1188720"/>
          </a:xfrm>
          <a:prstGeom prst="rect">
            <a:avLst/>
          </a:prstGeom>
          <a:noFill/>
          <a:ln/>
        </p:spPr>
        <p:txBody>
          <a:bodyPr wrap="square" lIns="0" tIns="0" rIns="0" bIns="0" rtlCol="0" anchor="ctr"/>
          <a:lstStyle/>
          <a:p>
            <a:pPr algn="ctr" indent="0" marL="0">
              <a:buNone/>
            </a:pPr>
            <a:r>
              <a:rPr lang="en-US" sz="4400" b="1" dirty="0">
                <a:solidFill>
                  <a:srgbClr val="E4572E"/>
                </a:solidFill>
                <a:latin typeface="Calibri" pitchFamily="34" charset="0"/>
                <a:ea typeface="Calibri" pitchFamily="34" charset="-122"/>
                <a:cs typeface="Calibri" pitchFamily="34" charset="-120"/>
              </a:rPr>
              <a:t>P</a:t>
            </a:r>
            <a:endParaRPr lang="en-US" sz="4400" dirty="0"/>
          </a:p>
        </p:txBody>
      </p:sp>
      <p:sp>
        <p:nvSpPr>
          <p:cNvPr id="5" name="Text 3"/>
          <p:cNvSpPr/>
          <p:nvPr/>
        </p:nvSpPr>
        <p:spPr>
          <a:xfrm>
            <a:off x="365760" y="2011680"/>
            <a:ext cx="24688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PILOT</a:t>
            </a:r>
            <a:endParaRPr lang="en-US" sz="3400" dirty="0"/>
          </a:p>
        </p:txBody>
      </p:sp>
      <p:sp>
        <p:nvSpPr>
          <p:cNvPr id="6" name="Text 4"/>
          <p:cNvSpPr/>
          <p:nvPr/>
        </p:nvSpPr>
        <p:spPr>
          <a:xfrm>
            <a:off x="365760" y="292608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OWNS</a:t>
            </a:r>
            <a:endParaRPr lang="en-US" sz="1200" dirty="0"/>
          </a:p>
        </p:txBody>
      </p:sp>
      <p:sp>
        <p:nvSpPr>
          <p:cNvPr id="7" name="Text 5"/>
          <p:cNvSpPr/>
          <p:nvPr/>
        </p:nvSpPr>
        <p:spPr>
          <a:xfrm>
            <a:off x="365760" y="3200400"/>
            <a:ext cx="2468880" cy="100584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Holding · extra fuel · diversion</a:t>
            </a:r>
            <a:endParaRPr lang="en-US" sz="2000" dirty="0"/>
          </a:p>
        </p:txBody>
      </p:sp>
      <p:sp>
        <p:nvSpPr>
          <p:cNvPr id="8" name="Shape 6"/>
          <p:cNvSpPr/>
          <p:nvPr/>
        </p:nvSpPr>
        <p:spPr>
          <a:xfrm>
            <a:off x="3657600" y="457200"/>
            <a:ext cx="4937760" cy="1051560"/>
          </a:xfrm>
          <a:prstGeom prst="roundRect">
            <a:avLst>
              <a:gd name="adj" fmla="val 10435"/>
            </a:avLst>
          </a:prstGeom>
          <a:solidFill>
            <a:srgbClr val="F1F4F7"/>
          </a:solidFill>
          <a:ln w="12700">
            <a:solidFill>
              <a:srgbClr val="F1F4F7"/>
            </a:solidFill>
            <a:prstDash val="solid"/>
          </a:ln>
        </p:spPr>
      </p:sp>
      <p:sp>
        <p:nvSpPr>
          <p:cNvPr id="9" name="Text 7"/>
          <p:cNvSpPr/>
          <p:nvPr/>
        </p:nvSpPr>
        <p:spPr>
          <a:xfrm>
            <a:off x="3886200" y="45720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SEES ONLY</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Fuel on board · crew duty · connections · alternate airport</a:t>
            </a:r>
            <a:endParaRPr lang="en-US" sz="1100" dirty="0"/>
          </a:p>
        </p:txBody>
      </p:sp>
      <p:sp>
        <p:nvSpPr>
          <p:cNvPr id="10" name="Shape 8"/>
          <p:cNvSpPr/>
          <p:nvPr/>
        </p:nvSpPr>
        <p:spPr>
          <a:xfrm>
            <a:off x="3657600" y="1645920"/>
            <a:ext cx="4937760" cy="1051560"/>
          </a:xfrm>
          <a:prstGeom prst="roundRect">
            <a:avLst>
              <a:gd name="adj" fmla="val 10435"/>
            </a:avLst>
          </a:prstGeom>
          <a:solidFill>
            <a:srgbClr val="F1F4F7"/>
          </a:solidFill>
          <a:ln w="12700">
            <a:solidFill>
              <a:srgbClr val="F1F4F7"/>
            </a:solidFill>
            <a:prstDash val="solid"/>
          </a:ln>
        </p:spPr>
      </p:sp>
      <p:sp>
        <p:nvSpPr>
          <p:cNvPr id="11" name="Text 9"/>
          <p:cNvSpPr/>
          <p:nvPr/>
        </p:nvSpPr>
        <p:spPr>
          <a:xfrm>
            <a:off x="3886200" y="164592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NEVER TRADES</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30-min fuel reserve · 13 h crew duty</a:t>
            </a:r>
            <a:endParaRPr lang="en-US" sz="1100" dirty="0"/>
          </a:p>
        </p:txBody>
      </p:sp>
      <p:sp>
        <p:nvSpPr>
          <p:cNvPr id="12" name="Shape 10"/>
          <p:cNvSpPr/>
          <p:nvPr/>
        </p:nvSpPr>
        <p:spPr>
          <a:xfrm>
            <a:off x="3657600" y="2834640"/>
            <a:ext cx="4937760" cy="1051560"/>
          </a:xfrm>
          <a:prstGeom prst="roundRect">
            <a:avLst>
              <a:gd name="adj" fmla="val 10435"/>
            </a:avLst>
          </a:prstGeom>
          <a:solidFill>
            <a:srgbClr val="F1F4F7"/>
          </a:solidFill>
          <a:ln w="12700">
            <a:solidFill>
              <a:srgbClr val="F1F4F7"/>
            </a:solidFill>
            <a:prstDash val="solid"/>
          </a:ln>
        </p:spPr>
      </p:sp>
      <p:sp>
        <p:nvSpPr>
          <p:cNvPr id="13" name="Text 11"/>
          <p:cNvSpPr/>
          <p:nvPr/>
        </p:nvSpPr>
        <p:spPr>
          <a:xfrm>
            <a:off x="3886200" y="283464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CARES ABOUT</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Safety, then fuel, then connections</a:t>
            </a:r>
            <a:endParaRPr lang="en-US" sz="1100" dirty="0"/>
          </a:p>
        </p:txBody>
      </p:sp>
      <p:sp>
        <p:nvSpPr>
          <p:cNvPr id="14" name="Text 12"/>
          <p:cNvSpPr/>
          <p:nvPr/>
        </p:nvSpPr>
        <p:spPr>
          <a:xfrm>
            <a:off x="3657600" y="4114800"/>
            <a:ext cx="4937760" cy="54864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Round 1 output: 10 plans, best to worst, each scored 0 to 1 with a reason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0" cy="5143500"/>
          </a:xfrm>
          <a:prstGeom prst="rect">
            <a:avLst/>
          </a:prstGeom>
          <a:solidFill>
            <a:srgbClr val="2E9E5B"/>
          </a:solidFill>
          <a:ln w="12700">
            <a:solidFill>
              <a:srgbClr val="2E9E5B"/>
            </a:solidFill>
            <a:prstDash val="solid"/>
          </a:ln>
        </p:spPr>
      </p:sp>
      <p:sp>
        <p:nvSpPr>
          <p:cNvPr id="3" name="Shape 1"/>
          <p:cNvSpPr/>
          <p:nvPr/>
        </p:nvSpPr>
        <p:spPr>
          <a:xfrm>
            <a:off x="1005840" y="594360"/>
            <a:ext cx="1188720" cy="1188720"/>
          </a:xfrm>
          <a:prstGeom prst="ellipse">
            <a:avLst/>
          </a:prstGeom>
          <a:solidFill>
            <a:srgbClr val="FFFFFF"/>
          </a:solidFill>
          <a:ln w="12700">
            <a:solidFill>
              <a:srgbClr val="FFFFFF"/>
            </a:solidFill>
            <a:prstDash val="solid"/>
          </a:ln>
        </p:spPr>
      </p:sp>
      <p:sp>
        <p:nvSpPr>
          <p:cNvPr id="4" name="Text 2"/>
          <p:cNvSpPr/>
          <p:nvPr/>
        </p:nvSpPr>
        <p:spPr>
          <a:xfrm>
            <a:off x="1005840" y="594360"/>
            <a:ext cx="1188720" cy="1188720"/>
          </a:xfrm>
          <a:prstGeom prst="rect">
            <a:avLst/>
          </a:prstGeom>
          <a:noFill/>
          <a:ln/>
        </p:spPr>
        <p:txBody>
          <a:bodyPr wrap="square" lIns="0" tIns="0" rIns="0" bIns="0" rtlCol="0" anchor="ctr"/>
          <a:lstStyle/>
          <a:p>
            <a:pPr algn="ctr" indent="0" marL="0">
              <a:buNone/>
            </a:pPr>
            <a:r>
              <a:rPr lang="en-US" sz="4400" b="1" dirty="0">
                <a:solidFill>
                  <a:srgbClr val="2E9E5B"/>
                </a:solidFill>
                <a:latin typeface="Calibri" pitchFamily="34" charset="0"/>
                <a:ea typeface="Calibri" pitchFamily="34" charset="-122"/>
                <a:cs typeface="Calibri" pitchFamily="34" charset="-120"/>
              </a:rPr>
              <a:t>G</a:t>
            </a:r>
            <a:endParaRPr lang="en-US" sz="4400" dirty="0"/>
          </a:p>
        </p:txBody>
      </p:sp>
      <p:sp>
        <p:nvSpPr>
          <p:cNvPr id="5" name="Text 3"/>
          <p:cNvSpPr/>
          <p:nvPr/>
        </p:nvSpPr>
        <p:spPr>
          <a:xfrm>
            <a:off x="365760" y="2011680"/>
            <a:ext cx="24688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GROUND</a:t>
            </a:r>
            <a:endParaRPr lang="en-US" sz="3400" dirty="0"/>
          </a:p>
        </p:txBody>
      </p:sp>
      <p:sp>
        <p:nvSpPr>
          <p:cNvPr id="6" name="Text 4"/>
          <p:cNvSpPr/>
          <p:nvPr/>
        </p:nvSpPr>
        <p:spPr>
          <a:xfrm>
            <a:off x="365760" y="2926080"/>
            <a:ext cx="24688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OWNS</a:t>
            </a:r>
            <a:endParaRPr lang="en-US" sz="1200" dirty="0"/>
          </a:p>
        </p:txBody>
      </p:sp>
      <p:sp>
        <p:nvSpPr>
          <p:cNvPr id="7" name="Text 5"/>
          <p:cNvSpPr/>
          <p:nvPr/>
        </p:nvSpPr>
        <p:spPr>
          <a:xfrm>
            <a:off x="365760" y="3200400"/>
            <a:ext cx="2468880" cy="1005840"/>
          </a:xfrm>
          <a:prstGeom prst="rect">
            <a:avLst/>
          </a:prstGeom>
          <a:noFill/>
          <a:ln/>
        </p:spPr>
        <p:txBody>
          <a:bodyPr wrap="square" lIns="0" tIns="0" rIns="0" bIns="0" rtlCol="0" anchor="t"/>
          <a:lstStyle/>
          <a:p>
            <a:pPr algn="ctr" indent="0" marL="0">
              <a:buNone/>
            </a:pPr>
            <a:r>
              <a:rPr lang="en-US" sz="2000" b="1" dirty="0">
                <a:solidFill>
                  <a:srgbClr val="FFFFFF"/>
                </a:solidFill>
                <a:latin typeface="Calibri" pitchFamily="34" charset="0"/>
                <a:ea typeface="Calibri" pitchFamily="34" charset="-122"/>
                <a:cs typeface="Calibri" pitchFamily="34" charset="-120"/>
              </a:rPr>
              <a:t>Gate</a:t>
            </a:r>
            <a:endParaRPr lang="en-US" sz="2000" dirty="0"/>
          </a:p>
        </p:txBody>
      </p:sp>
      <p:sp>
        <p:nvSpPr>
          <p:cNvPr id="8" name="Shape 6"/>
          <p:cNvSpPr/>
          <p:nvPr/>
        </p:nvSpPr>
        <p:spPr>
          <a:xfrm>
            <a:off x="3657600" y="457200"/>
            <a:ext cx="4937760" cy="1051560"/>
          </a:xfrm>
          <a:prstGeom prst="roundRect">
            <a:avLst>
              <a:gd name="adj" fmla="val 10435"/>
            </a:avLst>
          </a:prstGeom>
          <a:solidFill>
            <a:srgbClr val="F1F4F7"/>
          </a:solidFill>
          <a:ln w="12700">
            <a:solidFill>
              <a:srgbClr val="F1F4F7"/>
            </a:solidFill>
            <a:prstDash val="solid"/>
          </a:ln>
        </p:spPr>
      </p:sp>
      <p:sp>
        <p:nvSpPr>
          <p:cNvPr id="9" name="Text 7"/>
          <p:cNvSpPr/>
          <p:nvPr/>
        </p:nvSpPr>
        <p:spPr>
          <a:xfrm>
            <a:off x="3886200" y="45720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SEES ONLY</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Gate timelines · crew shift · next departure</a:t>
            </a:r>
            <a:endParaRPr lang="en-US" sz="1100" dirty="0"/>
          </a:p>
        </p:txBody>
      </p:sp>
      <p:sp>
        <p:nvSpPr>
          <p:cNvPr id="10" name="Shape 8"/>
          <p:cNvSpPr/>
          <p:nvPr/>
        </p:nvSpPr>
        <p:spPr>
          <a:xfrm>
            <a:off x="3657600" y="1645920"/>
            <a:ext cx="4937760" cy="1051560"/>
          </a:xfrm>
          <a:prstGeom prst="roundRect">
            <a:avLst>
              <a:gd name="adj" fmla="val 10435"/>
            </a:avLst>
          </a:prstGeom>
          <a:solidFill>
            <a:srgbClr val="F1F4F7"/>
          </a:solidFill>
          <a:ln w="12700">
            <a:solidFill>
              <a:srgbClr val="F1F4F7"/>
            </a:solidFill>
            <a:prstDash val="solid"/>
          </a:ln>
        </p:spPr>
      </p:sp>
      <p:sp>
        <p:nvSpPr>
          <p:cNvPr id="11" name="Text 9"/>
          <p:cNvSpPr/>
          <p:nvPr/>
        </p:nvSpPr>
        <p:spPr>
          <a:xfrm>
            <a:off x="3886200" y="164592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NEVER TRADES</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Gate free · 20-min change notice · 45-min turnaround</a:t>
            </a:r>
            <a:endParaRPr lang="en-US" sz="1100" dirty="0"/>
          </a:p>
        </p:txBody>
      </p:sp>
      <p:sp>
        <p:nvSpPr>
          <p:cNvPr id="12" name="Shape 10"/>
          <p:cNvSpPr/>
          <p:nvPr/>
        </p:nvSpPr>
        <p:spPr>
          <a:xfrm>
            <a:off x="3657600" y="2834640"/>
            <a:ext cx="4937760" cy="1051560"/>
          </a:xfrm>
          <a:prstGeom prst="roundRect">
            <a:avLst>
              <a:gd name="adj" fmla="val 10435"/>
            </a:avLst>
          </a:prstGeom>
          <a:solidFill>
            <a:srgbClr val="F1F4F7"/>
          </a:solidFill>
          <a:ln w="12700">
            <a:solidFill>
              <a:srgbClr val="F1F4F7"/>
            </a:solidFill>
            <a:prstDash val="solid"/>
          </a:ln>
        </p:spPr>
      </p:sp>
      <p:sp>
        <p:nvSpPr>
          <p:cNvPr id="13" name="Text 11"/>
          <p:cNvSpPr/>
          <p:nvPr/>
        </p:nvSpPr>
        <p:spPr>
          <a:xfrm>
            <a:off x="3886200" y="2834640"/>
            <a:ext cx="4526280" cy="1051560"/>
          </a:xfrm>
          <a:prstGeom prst="rect">
            <a:avLst/>
          </a:prstGeom>
          <a:noFill/>
          <a:ln/>
        </p:spPr>
        <p:txBody>
          <a:bodyPr wrap="square" lIns="0" tIns="0" rIns="0" bIns="0" rtlCol="0" anchor="ctr"/>
          <a:lstStyle/>
          <a:p>
            <a:pPr indent="0" marL="0">
              <a:buNone/>
            </a:pPr>
            <a:r>
              <a:rPr lang="en-US" sz="1100" b="1" dirty="0">
                <a:solidFill>
                  <a:srgbClr val="5B6770"/>
                </a:solidFill>
                <a:latin typeface="Calibri" pitchFamily="34" charset="0"/>
                <a:ea typeface="Calibri" pitchFamily="34" charset="-122"/>
                <a:cs typeface="Calibri" pitchFamily="34" charset="-120"/>
              </a:rPr>
              <a:t>CARES ABOUT</a:t>
            </a:r>
            <a:endParaRPr lang="en-US" sz="1100" dirty="0"/>
          </a:p>
          <a:p>
            <a:pPr indent="0" marL="0">
              <a:buNone/>
            </a:pPr>
            <a:r>
              <a:rPr lang="en-US" sz="1800" dirty="0">
                <a:solidFill>
                  <a:srgbClr val="0F1B2D"/>
                </a:solidFill>
                <a:latin typeface="Calibri" pitchFamily="34" charset="0"/>
                <a:ea typeface="Calibri" pitchFamily="34" charset="-122"/>
                <a:cs typeface="Calibri" pitchFamily="34" charset="-120"/>
              </a:rPr>
              <a:t>No crew overtime · gate use · turnaround</a:t>
            </a:r>
            <a:endParaRPr lang="en-US" sz="1100" dirty="0"/>
          </a:p>
        </p:txBody>
      </p:sp>
      <p:sp>
        <p:nvSpPr>
          <p:cNvPr id="14" name="Text 12"/>
          <p:cNvSpPr/>
          <p:nvPr/>
        </p:nvSpPr>
        <p:spPr>
          <a:xfrm>
            <a:off x="3657600" y="4114800"/>
            <a:ext cx="4937760" cy="54864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Round 1 output: 10 plans, best to worst, each scored 0 to 1 with a reason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0F1B2D"/>
                </a:solidFill>
                <a:latin typeface="Cambria" pitchFamily="34" charset="0"/>
                <a:ea typeface="Cambria" pitchFamily="34" charset="-122"/>
                <a:cs typeface="Cambria" pitchFamily="34" charset="-120"/>
              </a:rPr>
              <a:t>Three rounds, run by code</a:t>
            </a:r>
            <a:endParaRPr lang="en-US" sz="2800" dirty="0"/>
          </a:p>
        </p:txBody>
      </p:sp>
      <p:sp>
        <p:nvSpPr>
          <p:cNvPr id="3" name="Shape 1"/>
          <p:cNvSpPr/>
          <p:nvPr/>
        </p:nvSpPr>
        <p:spPr>
          <a:xfrm>
            <a:off x="548640" y="1234440"/>
            <a:ext cx="2377440" cy="2103120"/>
          </a:xfrm>
          <a:prstGeom prst="roundRect">
            <a:avLst>
              <a:gd name="adj" fmla="val 5217"/>
            </a:avLst>
          </a:prstGeom>
          <a:solidFill>
            <a:srgbClr val="F1F4F7"/>
          </a:solidFill>
          <a:ln w="12700">
            <a:solidFill>
              <a:srgbClr val="F1F4F7"/>
            </a:solidFill>
            <a:prstDash val="solid"/>
          </a:ln>
        </p:spPr>
      </p:sp>
      <p:sp>
        <p:nvSpPr>
          <p:cNvPr id="4" name="Shape 2"/>
          <p:cNvSpPr/>
          <p:nvPr/>
        </p:nvSpPr>
        <p:spPr>
          <a:xfrm>
            <a:off x="731520" y="1508760"/>
            <a:ext cx="640080" cy="640080"/>
          </a:xfrm>
          <a:prstGeom prst="ellipse">
            <a:avLst/>
          </a:prstGeom>
          <a:solidFill>
            <a:srgbClr val="0F1B2D"/>
          </a:solidFill>
          <a:ln w="12700">
            <a:solidFill>
              <a:srgbClr val="0F1B2D"/>
            </a:solidFill>
            <a:prstDash val="solid"/>
          </a:ln>
        </p:spPr>
      </p:sp>
      <p:sp>
        <p:nvSpPr>
          <p:cNvPr id="5" name="Text 3"/>
          <p:cNvSpPr/>
          <p:nvPr/>
        </p:nvSpPr>
        <p:spPr>
          <a:xfrm>
            <a:off x="73152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p:nvPr/>
        </p:nvSpPr>
        <p:spPr>
          <a:xfrm>
            <a:off x="777240" y="2286000"/>
            <a:ext cx="1920240" cy="411480"/>
          </a:xfrm>
          <a:prstGeom prst="rect">
            <a:avLst/>
          </a:prstGeom>
          <a:noFill/>
          <a:ln/>
        </p:spPr>
        <p:txBody>
          <a:bodyPr wrap="square" lIns="0" tIns="0" rIns="0" bIns="0" rtlCol="0" anchor="ctr"/>
          <a:lstStyle/>
          <a:p>
            <a:pPr indent="0" marL="0">
              <a:buNone/>
            </a:pPr>
            <a:r>
              <a:rPr lang="en-US" sz="2200" b="1" dirty="0">
                <a:solidFill>
                  <a:srgbClr val="0F1B2D"/>
                </a:solidFill>
                <a:latin typeface="Cambria" pitchFamily="34" charset="0"/>
                <a:ea typeface="Cambria" pitchFamily="34" charset="-122"/>
                <a:cs typeface="Cambria" pitchFamily="34" charset="-120"/>
              </a:rPr>
              <a:t>Propose</a:t>
            </a:r>
            <a:endParaRPr lang="en-US" sz="2200" dirty="0"/>
          </a:p>
        </p:txBody>
      </p:sp>
      <p:sp>
        <p:nvSpPr>
          <p:cNvPr id="7" name="Text 5"/>
          <p:cNvSpPr/>
          <p:nvPr/>
        </p:nvSpPr>
        <p:spPr>
          <a:xfrm>
            <a:off x="777240" y="2697480"/>
            <a:ext cx="1920240" cy="59436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Each agent sends 10 plans, best to worst</a:t>
            </a:r>
            <a:endParaRPr lang="en-US" sz="1300" dirty="0"/>
          </a:p>
        </p:txBody>
      </p:sp>
      <p:sp>
        <p:nvSpPr>
          <p:cNvPr id="8" name="Shape 6"/>
          <p:cNvSpPr/>
          <p:nvPr/>
        </p:nvSpPr>
        <p:spPr>
          <a:xfrm>
            <a:off x="2926080" y="2286000"/>
            <a:ext cx="457200" cy="0"/>
          </a:xfrm>
          <a:prstGeom prst="line">
            <a:avLst/>
          </a:prstGeom>
          <a:noFill/>
          <a:ln w="19050">
            <a:solidFill>
              <a:srgbClr val="5B6770"/>
            </a:solidFill>
            <a:prstDash val="solid"/>
            <a:tailEnd type="triangle"/>
          </a:ln>
        </p:spPr>
      </p:sp>
      <p:sp>
        <p:nvSpPr>
          <p:cNvPr id="9" name="Shape 7"/>
          <p:cNvSpPr/>
          <p:nvPr/>
        </p:nvSpPr>
        <p:spPr>
          <a:xfrm>
            <a:off x="3383280" y="1234440"/>
            <a:ext cx="2377440" cy="2103120"/>
          </a:xfrm>
          <a:prstGeom prst="roundRect">
            <a:avLst>
              <a:gd name="adj" fmla="val 5217"/>
            </a:avLst>
          </a:prstGeom>
          <a:solidFill>
            <a:srgbClr val="F1F4F7"/>
          </a:solidFill>
          <a:ln w="12700">
            <a:solidFill>
              <a:srgbClr val="F1F4F7"/>
            </a:solidFill>
            <a:prstDash val="solid"/>
          </a:ln>
        </p:spPr>
      </p:sp>
      <p:sp>
        <p:nvSpPr>
          <p:cNvPr id="10" name="Shape 8"/>
          <p:cNvSpPr/>
          <p:nvPr/>
        </p:nvSpPr>
        <p:spPr>
          <a:xfrm>
            <a:off x="3566160" y="1508760"/>
            <a:ext cx="640080" cy="640080"/>
          </a:xfrm>
          <a:prstGeom prst="ellipse">
            <a:avLst/>
          </a:prstGeom>
          <a:solidFill>
            <a:srgbClr val="0F1B2D"/>
          </a:solidFill>
          <a:ln w="12700">
            <a:solidFill>
              <a:srgbClr val="0F1B2D"/>
            </a:solidFill>
            <a:prstDash val="solid"/>
          </a:ln>
        </p:spPr>
      </p:sp>
      <p:sp>
        <p:nvSpPr>
          <p:cNvPr id="11" name="Text 9"/>
          <p:cNvSpPr/>
          <p:nvPr/>
        </p:nvSpPr>
        <p:spPr>
          <a:xfrm>
            <a:off x="35661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3611880" y="2286000"/>
            <a:ext cx="1920240" cy="411480"/>
          </a:xfrm>
          <a:prstGeom prst="rect">
            <a:avLst/>
          </a:prstGeom>
          <a:noFill/>
          <a:ln/>
        </p:spPr>
        <p:txBody>
          <a:bodyPr wrap="square" lIns="0" tIns="0" rIns="0" bIns="0" rtlCol="0" anchor="ctr"/>
          <a:lstStyle/>
          <a:p>
            <a:pPr indent="0" marL="0">
              <a:buNone/>
            </a:pPr>
            <a:r>
              <a:rPr lang="en-US" sz="2200" b="1" dirty="0">
                <a:solidFill>
                  <a:srgbClr val="0F1B2D"/>
                </a:solidFill>
                <a:latin typeface="Cambria" pitchFamily="34" charset="0"/>
                <a:ea typeface="Cambria" pitchFamily="34" charset="-122"/>
                <a:cs typeface="Cambria" pitchFamily="34" charset="-120"/>
              </a:rPr>
              <a:t>Score</a:t>
            </a:r>
            <a:endParaRPr lang="en-US" sz="2200" dirty="0"/>
          </a:p>
        </p:txBody>
      </p:sp>
      <p:sp>
        <p:nvSpPr>
          <p:cNvPr id="13" name="Text 11"/>
          <p:cNvSpPr/>
          <p:nvPr/>
        </p:nvSpPr>
        <p:spPr>
          <a:xfrm>
            <a:off x="3611880" y="2697480"/>
            <a:ext cx="1920240" cy="59436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Every agent scores the whole shortlist</a:t>
            </a:r>
            <a:endParaRPr lang="en-US" sz="1300" dirty="0"/>
          </a:p>
        </p:txBody>
      </p:sp>
      <p:sp>
        <p:nvSpPr>
          <p:cNvPr id="14" name="Shape 12"/>
          <p:cNvSpPr/>
          <p:nvPr/>
        </p:nvSpPr>
        <p:spPr>
          <a:xfrm>
            <a:off x="5760720" y="2286000"/>
            <a:ext cx="457200" cy="0"/>
          </a:xfrm>
          <a:prstGeom prst="line">
            <a:avLst/>
          </a:prstGeom>
          <a:noFill/>
          <a:ln w="19050">
            <a:solidFill>
              <a:srgbClr val="5B6770"/>
            </a:solidFill>
            <a:prstDash val="solid"/>
            <a:tailEnd type="triangle"/>
          </a:ln>
        </p:spPr>
      </p:sp>
      <p:sp>
        <p:nvSpPr>
          <p:cNvPr id="15" name="Shape 13"/>
          <p:cNvSpPr/>
          <p:nvPr/>
        </p:nvSpPr>
        <p:spPr>
          <a:xfrm>
            <a:off x="6217920" y="1234440"/>
            <a:ext cx="2377440" cy="2103120"/>
          </a:xfrm>
          <a:prstGeom prst="roundRect">
            <a:avLst>
              <a:gd name="adj" fmla="val 5217"/>
            </a:avLst>
          </a:prstGeom>
          <a:solidFill>
            <a:srgbClr val="F1F4F7"/>
          </a:solidFill>
          <a:ln w="12700">
            <a:solidFill>
              <a:srgbClr val="F1F4F7"/>
            </a:solidFill>
            <a:prstDash val="solid"/>
          </a:ln>
        </p:spPr>
      </p:sp>
      <p:sp>
        <p:nvSpPr>
          <p:cNvPr id="16" name="Shape 14"/>
          <p:cNvSpPr/>
          <p:nvPr/>
        </p:nvSpPr>
        <p:spPr>
          <a:xfrm>
            <a:off x="6400800" y="1508760"/>
            <a:ext cx="640080" cy="640080"/>
          </a:xfrm>
          <a:prstGeom prst="ellipse">
            <a:avLst/>
          </a:prstGeom>
          <a:solidFill>
            <a:srgbClr val="0F1B2D"/>
          </a:solidFill>
          <a:ln w="12700">
            <a:solidFill>
              <a:srgbClr val="0F1B2D"/>
            </a:solidFill>
            <a:prstDash val="solid"/>
          </a:ln>
        </p:spPr>
      </p:sp>
      <p:sp>
        <p:nvSpPr>
          <p:cNvPr id="17" name="Text 15"/>
          <p:cNvSpPr/>
          <p:nvPr/>
        </p:nvSpPr>
        <p:spPr>
          <a:xfrm>
            <a:off x="640080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8" name="Text 16"/>
          <p:cNvSpPr/>
          <p:nvPr/>
        </p:nvSpPr>
        <p:spPr>
          <a:xfrm>
            <a:off x="6446520" y="2286000"/>
            <a:ext cx="1920240" cy="411480"/>
          </a:xfrm>
          <a:prstGeom prst="rect">
            <a:avLst/>
          </a:prstGeom>
          <a:noFill/>
          <a:ln/>
        </p:spPr>
        <p:txBody>
          <a:bodyPr wrap="square" lIns="0" tIns="0" rIns="0" bIns="0" rtlCol="0" anchor="ctr"/>
          <a:lstStyle/>
          <a:p>
            <a:pPr indent="0" marL="0">
              <a:buNone/>
            </a:pPr>
            <a:r>
              <a:rPr lang="en-US" sz="2200" b="1" dirty="0">
                <a:solidFill>
                  <a:srgbClr val="0F1B2D"/>
                </a:solidFill>
                <a:latin typeface="Cambria" pitchFamily="34" charset="0"/>
                <a:ea typeface="Cambria" pitchFamily="34" charset="-122"/>
                <a:cs typeface="Cambria" pitchFamily="34" charset="-120"/>
              </a:rPr>
              <a:t>Vote</a:t>
            </a:r>
            <a:endParaRPr lang="en-US" sz="2200" dirty="0"/>
          </a:p>
        </p:txBody>
      </p:sp>
      <p:sp>
        <p:nvSpPr>
          <p:cNvPr id="19" name="Text 17"/>
          <p:cNvSpPr/>
          <p:nvPr/>
        </p:nvSpPr>
        <p:spPr>
          <a:xfrm>
            <a:off x="6446520" y="2697480"/>
            <a:ext cx="1920240" cy="594360"/>
          </a:xfrm>
          <a:prstGeom prst="rect">
            <a:avLst/>
          </a:prstGeom>
          <a:noFill/>
          <a:ln/>
        </p:spPr>
        <p:txBody>
          <a:bodyPr wrap="square" lIns="0" tIns="0" rIns="0" bIns="0" rtlCol="0" anchor="t"/>
          <a:lstStyle/>
          <a:p>
            <a:pPr indent="0" marL="0">
              <a:buNone/>
            </a:pPr>
            <a:r>
              <a:rPr lang="en-US" sz="1300" dirty="0">
                <a:solidFill>
                  <a:srgbClr val="5B6770"/>
                </a:solidFill>
                <a:latin typeface="Calibri" pitchFamily="34" charset="0"/>
                <a:ea typeface="Calibri" pitchFamily="34" charset="-122"/>
                <a:cs typeface="Calibri" pitchFamily="34" charset="-120"/>
              </a:rPr>
              <a:t>Accept or reject the picked plan</a:t>
            </a:r>
            <a:endParaRPr lang="en-US" sz="1300" dirty="0"/>
          </a:p>
        </p:txBody>
      </p:sp>
      <p:sp>
        <p:nvSpPr>
          <p:cNvPr id="20" name="Shape 18"/>
          <p:cNvSpPr/>
          <p:nvPr/>
        </p:nvSpPr>
        <p:spPr>
          <a:xfrm>
            <a:off x="548640" y="3657600"/>
            <a:ext cx="3931920" cy="731520"/>
          </a:xfrm>
          <a:prstGeom prst="roundRect">
            <a:avLst>
              <a:gd name="adj" fmla="val 15000"/>
            </a:avLst>
          </a:prstGeom>
          <a:solidFill>
            <a:srgbClr val="2E9E5B"/>
          </a:solidFill>
          <a:ln w="12700">
            <a:solidFill>
              <a:srgbClr val="2E9E5B"/>
            </a:solidFill>
            <a:prstDash val="solid"/>
          </a:ln>
        </p:spPr>
      </p:sp>
      <p:sp>
        <p:nvSpPr>
          <p:cNvPr id="21" name="Text 19"/>
          <p:cNvSpPr/>
          <p:nvPr/>
        </p:nvSpPr>
        <p:spPr>
          <a:xfrm>
            <a:off x="548640" y="3657600"/>
            <a:ext cx="3931920" cy="7315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All accept: consensus</a:t>
            </a:r>
            <a:endParaRPr lang="en-US" sz="1800" dirty="0"/>
          </a:p>
        </p:txBody>
      </p:sp>
      <p:sp>
        <p:nvSpPr>
          <p:cNvPr id="22" name="Shape 20"/>
          <p:cNvSpPr/>
          <p:nvPr/>
        </p:nvSpPr>
        <p:spPr>
          <a:xfrm>
            <a:off x="4663440" y="3657600"/>
            <a:ext cx="3931920" cy="731520"/>
          </a:xfrm>
          <a:prstGeom prst="roundRect">
            <a:avLst>
              <a:gd name="adj" fmla="val 15000"/>
            </a:avLst>
          </a:prstGeom>
          <a:solidFill>
            <a:srgbClr val="F5A623"/>
          </a:solidFill>
          <a:ln w="12700">
            <a:solidFill>
              <a:srgbClr val="F5A623"/>
            </a:solidFill>
            <a:prstDash val="solid"/>
          </a:ln>
        </p:spPr>
      </p:sp>
      <p:sp>
        <p:nvSpPr>
          <p:cNvPr id="23" name="Text 21"/>
          <p:cNvSpPr/>
          <p:nvPr/>
        </p:nvSpPr>
        <p:spPr>
          <a:xfrm>
            <a:off x="4800600" y="3657600"/>
            <a:ext cx="3657600" cy="73152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Otherwise: fallback, the cheapest plan that passes every rule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0F1B2D"/>
                </a:solidFill>
                <a:latin typeface="Cambria" pitchFamily="34" charset="0"/>
                <a:ea typeface="Cambria" pitchFamily="34" charset="-122"/>
                <a:cs typeface="Cambria" pitchFamily="34" charset="-120"/>
              </a:rPr>
              <a:t>Round 1: unsafe plans are cut by code</a:t>
            </a:r>
            <a:endParaRPr lang="en-US" sz="2800" dirty="0"/>
          </a:p>
        </p:txBody>
      </p:sp>
      <p:sp>
        <p:nvSpPr>
          <p:cNvPr id="3" name="Shape 1"/>
          <p:cNvSpPr/>
          <p:nvPr/>
        </p:nvSpPr>
        <p:spPr>
          <a:xfrm>
            <a:off x="548640" y="1234440"/>
            <a:ext cx="4389120" cy="640080"/>
          </a:xfrm>
          <a:prstGeom prst="roundRect">
            <a:avLst>
              <a:gd name="adj" fmla="val 14286"/>
            </a:avLst>
          </a:prstGeom>
          <a:solidFill>
            <a:srgbClr val="0F1B2D"/>
          </a:solidFill>
          <a:ln w="12700">
            <a:solidFill>
              <a:srgbClr val="0F1B2D"/>
            </a:solidFill>
            <a:prstDash val="solid"/>
          </a:ln>
        </p:spPr>
      </p:sp>
      <p:sp>
        <p:nvSpPr>
          <p:cNvPr id="4" name="Text 2"/>
          <p:cNvSpPr/>
          <p:nvPr/>
        </p:nvSpPr>
        <p:spPr>
          <a:xfrm>
            <a:off x="548640" y="1234440"/>
            <a:ext cx="438912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30</a:t>
            </a:r>
            <a:endParaRPr lang="en-US" sz="2600" dirty="0"/>
          </a:p>
        </p:txBody>
      </p:sp>
      <p:sp>
        <p:nvSpPr>
          <p:cNvPr id="5" name="Text 3"/>
          <p:cNvSpPr/>
          <p:nvPr/>
        </p:nvSpPr>
        <p:spPr>
          <a:xfrm>
            <a:off x="5212080" y="1234440"/>
            <a:ext cx="3383280" cy="640080"/>
          </a:xfrm>
          <a:prstGeom prst="rect">
            <a:avLst/>
          </a:prstGeom>
          <a:noFill/>
          <a:ln/>
        </p:spPr>
        <p:txBody>
          <a:bodyPr wrap="square" lIns="0" tIns="0" rIns="0" bIns="0" rtlCol="0" anchor="ctr"/>
          <a:lstStyle/>
          <a:p>
            <a:pPr indent="0" marL="0">
              <a:buNone/>
            </a:pPr>
            <a:r>
              <a:rPr lang="en-US" sz="1500" dirty="0">
                <a:solidFill>
                  <a:srgbClr val="0F1B2D"/>
                </a:solidFill>
                <a:latin typeface="Calibri" pitchFamily="34" charset="0"/>
                <a:ea typeface="Calibri" pitchFamily="34" charset="-122"/>
                <a:cs typeface="Calibri" pitchFamily="34" charset="-120"/>
              </a:rPr>
              <a:t>proposed, 10 per agent</a:t>
            </a:r>
            <a:endParaRPr lang="en-US" sz="1500" dirty="0"/>
          </a:p>
        </p:txBody>
      </p:sp>
      <p:sp>
        <p:nvSpPr>
          <p:cNvPr id="6" name="Shape 4"/>
          <p:cNvSpPr/>
          <p:nvPr/>
        </p:nvSpPr>
        <p:spPr>
          <a:xfrm>
            <a:off x="960120" y="1965960"/>
            <a:ext cx="3566160" cy="640080"/>
          </a:xfrm>
          <a:prstGeom prst="roundRect">
            <a:avLst>
              <a:gd name="adj" fmla="val 14286"/>
            </a:avLst>
          </a:prstGeom>
          <a:solidFill>
            <a:srgbClr val="0F1B2D"/>
          </a:solidFill>
          <a:ln w="12700">
            <a:solidFill>
              <a:srgbClr val="0F1B2D"/>
            </a:solidFill>
            <a:prstDash val="solid"/>
          </a:ln>
        </p:spPr>
      </p:sp>
      <p:sp>
        <p:nvSpPr>
          <p:cNvPr id="7" name="Text 5"/>
          <p:cNvSpPr/>
          <p:nvPr/>
        </p:nvSpPr>
        <p:spPr>
          <a:xfrm>
            <a:off x="960120" y="1965960"/>
            <a:ext cx="356616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24</a:t>
            </a:r>
            <a:endParaRPr lang="en-US" sz="2600" dirty="0"/>
          </a:p>
        </p:txBody>
      </p:sp>
      <p:sp>
        <p:nvSpPr>
          <p:cNvPr id="8" name="Text 6"/>
          <p:cNvSpPr/>
          <p:nvPr/>
        </p:nvSpPr>
        <p:spPr>
          <a:xfrm>
            <a:off x="5212080" y="1965960"/>
            <a:ext cx="3383280" cy="640080"/>
          </a:xfrm>
          <a:prstGeom prst="rect">
            <a:avLst/>
          </a:prstGeom>
          <a:noFill/>
          <a:ln/>
        </p:spPr>
        <p:txBody>
          <a:bodyPr wrap="square" lIns="0" tIns="0" rIns="0" bIns="0" rtlCol="0" anchor="ctr"/>
          <a:lstStyle/>
          <a:p>
            <a:pPr indent="0" marL="0">
              <a:buNone/>
            </a:pPr>
            <a:r>
              <a:rPr lang="en-US" sz="1500" dirty="0">
                <a:solidFill>
                  <a:srgbClr val="0F1B2D"/>
                </a:solidFill>
                <a:latin typeface="Calibri" pitchFamily="34" charset="0"/>
                <a:ea typeface="Calibri" pitchFamily="34" charset="-122"/>
                <a:cs typeface="Calibri" pitchFamily="34" charset="-120"/>
              </a:rPr>
              <a:t>after merging duplicates</a:t>
            </a:r>
            <a:endParaRPr lang="en-US" sz="1500" dirty="0"/>
          </a:p>
        </p:txBody>
      </p:sp>
      <p:sp>
        <p:nvSpPr>
          <p:cNvPr id="9" name="Shape 7"/>
          <p:cNvSpPr/>
          <p:nvPr/>
        </p:nvSpPr>
        <p:spPr>
          <a:xfrm>
            <a:off x="1554480" y="2697480"/>
            <a:ext cx="2377440" cy="640080"/>
          </a:xfrm>
          <a:prstGeom prst="roundRect">
            <a:avLst>
              <a:gd name="adj" fmla="val 14286"/>
            </a:avLst>
          </a:prstGeom>
          <a:solidFill>
            <a:srgbClr val="0F1B2D"/>
          </a:solidFill>
          <a:ln w="12700">
            <a:solidFill>
              <a:srgbClr val="0F1B2D"/>
            </a:solidFill>
            <a:prstDash val="solid"/>
          </a:ln>
        </p:spPr>
      </p:sp>
      <p:sp>
        <p:nvSpPr>
          <p:cNvPr id="10" name="Text 8"/>
          <p:cNvSpPr/>
          <p:nvPr/>
        </p:nvSpPr>
        <p:spPr>
          <a:xfrm>
            <a:off x="1554480" y="2697480"/>
            <a:ext cx="237744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8</a:t>
            </a:r>
            <a:endParaRPr lang="en-US" sz="2600" dirty="0"/>
          </a:p>
        </p:txBody>
      </p:sp>
      <p:sp>
        <p:nvSpPr>
          <p:cNvPr id="11" name="Text 9"/>
          <p:cNvSpPr/>
          <p:nvPr/>
        </p:nvSpPr>
        <p:spPr>
          <a:xfrm>
            <a:off x="5212080" y="2697480"/>
            <a:ext cx="3383280" cy="640080"/>
          </a:xfrm>
          <a:prstGeom prst="rect">
            <a:avLst/>
          </a:prstGeom>
          <a:noFill/>
          <a:ln/>
        </p:spPr>
        <p:txBody>
          <a:bodyPr wrap="square" lIns="0" tIns="0" rIns="0" bIns="0" rtlCol="0" anchor="ctr"/>
          <a:lstStyle/>
          <a:p>
            <a:pPr indent="0" marL="0">
              <a:buNone/>
            </a:pPr>
            <a:r>
              <a:rPr lang="en-US" sz="1500" dirty="0">
                <a:solidFill>
                  <a:srgbClr val="0F1B2D"/>
                </a:solidFill>
                <a:latin typeface="Calibri" pitchFamily="34" charset="0"/>
                <a:ea typeface="Calibri" pitchFamily="34" charset="-122"/>
                <a:cs typeface="Calibri" pitchFamily="34" charset="-120"/>
              </a:rPr>
              <a:t>pass the safety checker (16 cut)</a:t>
            </a:r>
            <a:endParaRPr lang="en-US" sz="1500" dirty="0"/>
          </a:p>
        </p:txBody>
      </p:sp>
      <p:sp>
        <p:nvSpPr>
          <p:cNvPr id="12" name="Shape 10"/>
          <p:cNvSpPr/>
          <p:nvPr/>
        </p:nvSpPr>
        <p:spPr>
          <a:xfrm>
            <a:off x="1920240" y="3429000"/>
            <a:ext cx="1645920" cy="640080"/>
          </a:xfrm>
          <a:prstGeom prst="roundRect">
            <a:avLst>
              <a:gd name="adj" fmla="val 14286"/>
            </a:avLst>
          </a:prstGeom>
          <a:solidFill>
            <a:srgbClr val="F5A623"/>
          </a:solidFill>
          <a:ln w="12700">
            <a:solidFill>
              <a:srgbClr val="F5A623"/>
            </a:solidFill>
            <a:prstDash val="solid"/>
          </a:ln>
        </p:spPr>
      </p:sp>
      <p:sp>
        <p:nvSpPr>
          <p:cNvPr id="13" name="Text 11"/>
          <p:cNvSpPr/>
          <p:nvPr/>
        </p:nvSpPr>
        <p:spPr>
          <a:xfrm>
            <a:off x="1920240" y="3429000"/>
            <a:ext cx="1645920" cy="640080"/>
          </a:xfrm>
          <a:prstGeom prst="rect">
            <a:avLst/>
          </a:prstGeom>
          <a:noFill/>
          <a:ln/>
        </p:spPr>
        <p:txBody>
          <a:bodyPr wrap="square" lIns="0" tIns="0" rIns="0" bIns="0" rtlCol="0" anchor="ctr"/>
          <a:lstStyle/>
          <a:p>
            <a:pPr algn="ctr" indent="0" marL="0">
              <a:buNone/>
            </a:pPr>
            <a:r>
              <a:rPr lang="en-US" sz="2600" b="1" dirty="0">
                <a:solidFill>
                  <a:srgbClr val="0F1B2D"/>
                </a:solidFill>
                <a:latin typeface="Cambria" pitchFamily="34" charset="0"/>
                <a:ea typeface="Cambria" pitchFamily="34" charset="-122"/>
                <a:cs typeface="Cambria" pitchFamily="34" charset="-120"/>
              </a:rPr>
              <a:t>5</a:t>
            </a:r>
            <a:endParaRPr lang="en-US" sz="2600" dirty="0"/>
          </a:p>
        </p:txBody>
      </p:sp>
      <p:sp>
        <p:nvSpPr>
          <p:cNvPr id="14" name="Text 12"/>
          <p:cNvSpPr/>
          <p:nvPr/>
        </p:nvSpPr>
        <p:spPr>
          <a:xfrm>
            <a:off x="5212080" y="3429000"/>
            <a:ext cx="3383280" cy="640080"/>
          </a:xfrm>
          <a:prstGeom prst="rect">
            <a:avLst/>
          </a:prstGeom>
          <a:noFill/>
          <a:ln/>
        </p:spPr>
        <p:txBody>
          <a:bodyPr wrap="square" lIns="0" tIns="0" rIns="0" bIns="0" rtlCol="0" anchor="ctr"/>
          <a:lstStyle/>
          <a:p>
            <a:pPr indent="0" marL="0">
              <a:buNone/>
            </a:pPr>
            <a:r>
              <a:rPr lang="en-US" sz="1500" dirty="0">
                <a:solidFill>
                  <a:srgbClr val="0F1B2D"/>
                </a:solidFill>
                <a:latin typeface="Calibri" pitchFamily="34" charset="0"/>
                <a:ea typeface="Calibri" pitchFamily="34" charset="-122"/>
                <a:cs typeface="Calibri" pitchFamily="34" charset="-120"/>
              </a:rPr>
              <a:t>shortlist: each agent's top 3</a:t>
            </a:r>
            <a:endParaRPr lang="en-US" sz="1500" dirty="0"/>
          </a:p>
        </p:txBody>
      </p:sp>
      <p:sp>
        <p:nvSpPr>
          <p:cNvPr id="15" name="Text 13"/>
          <p:cNvSpPr/>
          <p:nvPr/>
        </p:nvSpPr>
        <p:spPr>
          <a:xfrm>
            <a:off x="548640" y="4297680"/>
            <a:ext cx="8046720" cy="457200"/>
          </a:xfrm>
          <a:prstGeom prst="rect">
            <a:avLst/>
          </a:prstGeom>
          <a:noFill/>
          <a:ln/>
        </p:spPr>
        <p:txBody>
          <a:bodyPr wrap="square" lIns="0" tIns="0" rIns="0" bIns="0" rtlCol="0" anchor="ctr"/>
          <a:lstStyle/>
          <a:p>
            <a:pPr indent="0" marL="0">
              <a:buNone/>
            </a:pPr>
            <a:r>
              <a:rPr lang="en-US" sz="2000" b="1" dirty="0">
                <a:solidFill>
                  <a:srgbClr val="0F1B2D"/>
                </a:solidFill>
                <a:latin typeface="Cambria" pitchFamily="34" charset="0"/>
                <a:ea typeface="Cambria" pitchFamily="34" charset="-122"/>
                <a:cs typeface="Cambria" pitchFamily="34" charset="-120"/>
              </a:rPr>
              <a:t>An agent's score is a claim. The checker is the judge.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0F1B2D"/>
                </a:solidFill>
                <a:latin typeface="Cambria" pitchFamily="34" charset="0"/>
                <a:ea typeface="Cambria" pitchFamily="34" charset="-122"/>
                <a:cs typeface="Cambria" pitchFamily="34" charset="-120"/>
              </a:rPr>
              <a:t>Round 2: balance beats favourites</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5212080" cy="914400"/>
        </p:xfrm>
        <a:graphic>
          <a:graphicData uri="http://schemas.openxmlformats.org/drawingml/2006/table">
            <a:tbl>
              <a:tblPr/>
              <a:tblGrid>
                <a:gridCol w="731520"/>
                <a:gridCol w="731520"/>
                <a:gridCol w="731520"/>
                <a:gridCol w="868680"/>
                <a:gridCol w="1097280"/>
                <a:gridCol w="105156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Plan</a:t>
                      </a:r>
                      <a:endParaRPr lang="en-US" sz="14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ATC</a:t>
                      </a:r>
                      <a:endParaRPr lang="en-US" sz="14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Pilot</a:t>
                      </a:r>
                      <a:endParaRPr lang="en-US" sz="14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Ground</a:t>
                      </a:r>
                      <a:endParaRPr lang="en-US" sz="14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Cost</a:t>
                      </a:r>
                      <a:endParaRPr lang="en-US" sz="14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Product</a:t>
                      </a:r>
                      <a:endParaRPr lang="en-US" sz="14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F1B2D"/>
                    </a:solidFill>
                  </a:tcPr>
                </a:tc>
              </a:tr>
              <a:tr h="457200">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C1</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0.05</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0.05</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$11,040</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0.003</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r>
              <a:tr h="457200">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C2</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1D0"/>
                    </a:solidFill>
                  </a:tcPr>
                </a:tc>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1D0"/>
                    </a:solidFill>
                  </a:tcPr>
                </a:tc>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1D0"/>
                    </a:solidFill>
                  </a:tcPr>
                </a:tc>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1D0"/>
                    </a:solidFill>
                  </a:tcPr>
                </a:tc>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$11,915</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1D0"/>
                    </a:solidFill>
                  </a:tcPr>
                </a:tc>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0.232</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1D0"/>
                    </a:solidFill>
                  </a:tcPr>
                </a:tc>
              </a:tr>
              <a:tr h="457200">
                <a:tc>
                  <a:txBody>
                    <a:bodyPr/>
                    <a:lstStyle/>
                    <a:p>
                      <a:pPr algn="ctr" indent="0" marL="0">
                        <a:buNone/>
                      </a:pPr>
                      <a:r>
                        <a:rPr lang="en-US" sz="1500" b="1" dirty="0">
                          <a:solidFill>
                            <a:srgbClr val="0F1B2D"/>
                          </a:solidFill>
                          <a:latin typeface="Calibri" pitchFamily="34" charset="0"/>
                          <a:ea typeface="Calibri" pitchFamily="34" charset="-122"/>
                          <a:cs typeface="Calibri" pitchFamily="34" charset="-120"/>
                        </a:rPr>
                        <a:t>C3</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0.05</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$12,846</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c>
                  <a:txBody>
                    <a:bodyPr/>
                    <a:lstStyle/>
                    <a:p>
                      <a:pPr algn="ctr" indent="0" marL="0">
                        <a:buNone/>
                      </a:pPr>
                      <a:r>
                        <a:rPr lang="en-US" sz="1500" dirty="0">
                          <a:solidFill>
                            <a:srgbClr val="0F1B2D"/>
                          </a:solidFill>
                          <a:latin typeface="Calibri" pitchFamily="34" charset="0"/>
                          <a:ea typeface="Calibri" pitchFamily="34" charset="-122"/>
                          <a:cs typeface="Calibri" pitchFamily="34" charset="-120"/>
                        </a:rPr>
                        <a:t>0.043</a:t>
                      </a:r>
                      <a:endParaRPr lang="en-US" sz="1500" dirty="0">
                        <a:latin typeface="Calibri" charset="0"/>
                        <a:ea typeface="Calibri" charset="0"/>
                        <a:cs typeface="Calibri" charset="0"/>
                      </a:endParaRPr>
                    </a:p>
                  </a:txBody>
                  <a:tcPr marL="91440" marR="91440" marT="45720" marB="4572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1F4F7"/>
                    </a:solidFill>
                  </a:tcPr>
                </a:tc>
              </a:tr>
            </a:tbl>
          </a:graphicData>
        </a:graphic>
      </p:graphicFrame>
      <p:sp>
        <p:nvSpPr>
          <p:cNvPr id="4" name="Shape 1"/>
          <p:cNvSpPr/>
          <p:nvPr/>
        </p:nvSpPr>
        <p:spPr>
          <a:xfrm>
            <a:off x="548640" y="3291840"/>
            <a:ext cx="5212080" cy="868680"/>
          </a:xfrm>
          <a:prstGeom prst="roundRect">
            <a:avLst>
              <a:gd name="adj" fmla="val 12632"/>
            </a:avLst>
          </a:prstGeom>
          <a:solidFill>
            <a:srgbClr val="F5A623"/>
          </a:solidFill>
          <a:ln w="12700">
            <a:solidFill>
              <a:srgbClr val="F5A623"/>
            </a:solidFill>
            <a:prstDash val="solid"/>
          </a:ln>
        </p:spPr>
      </p:sp>
      <p:sp>
        <p:nvSpPr>
          <p:cNvPr id="5" name="Text 2"/>
          <p:cNvSpPr/>
          <p:nvPr/>
        </p:nvSpPr>
        <p:spPr>
          <a:xfrm>
            <a:off x="548640" y="3291840"/>
            <a:ext cx="5212080" cy="868680"/>
          </a:xfrm>
          <a:prstGeom prst="rect">
            <a:avLst/>
          </a:prstGeom>
          <a:noFill/>
          <a:ln/>
        </p:spPr>
        <p:txBody>
          <a:bodyPr wrap="square" lIns="0" tIns="0" rIns="0" bIns="0" rtlCol="0" anchor="ctr"/>
          <a:lstStyle/>
          <a:p>
            <a:pPr algn="ctr" indent="0" marL="0">
              <a:buNone/>
            </a:pPr>
            <a:r>
              <a:rPr lang="en-US" sz="1900" b="1" dirty="0">
                <a:solidFill>
                  <a:srgbClr val="0F1B2D"/>
                </a:solidFill>
                <a:latin typeface="Calibri" pitchFamily="34" charset="0"/>
                <a:ea typeface="Calibri" pitchFamily="34" charset="-122"/>
                <a:cs typeface="Calibri" pitchFamily="34" charset="-120"/>
              </a:rPr>
              <a:t>Nash bargaining solution</a:t>
            </a:r>
            <a:endParaRPr lang="en-US" sz="1900" dirty="0"/>
          </a:p>
          <a:p>
            <a:pPr algn="ctr" indent="0" marL="0">
              <a:buNone/>
            </a:pPr>
            <a:r>
              <a:rPr lang="en-US" sz="1500" dirty="0">
                <a:solidFill>
                  <a:srgbClr val="0F1B2D"/>
                </a:solidFill>
                <a:latin typeface="Calibri" pitchFamily="34" charset="0"/>
                <a:ea typeface="Calibri" pitchFamily="34" charset="-122"/>
                <a:cs typeface="Calibri" pitchFamily="34" charset="-120"/>
              </a:rPr>
              <a:t>ATC × Pilot × Ground × cost score</a:t>
            </a:r>
            <a:endParaRPr lang="en-US" sz="1900" dirty="0"/>
          </a:p>
        </p:txBody>
      </p:sp>
      <p:sp>
        <p:nvSpPr>
          <p:cNvPr id="6" name="Text 3"/>
          <p:cNvSpPr/>
          <p:nvPr/>
        </p:nvSpPr>
        <p:spPr>
          <a:xfrm>
            <a:off x="548640" y="4251960"/>
            <a:ext cx="5212080" cy="320040"/>
          </a:xfrm>
          <a:prstGeom prst="rect">
            <a:avLst/>
          </a:prstGeom>
          <a:noFill/>
          <a:ln/>
        </p:spPr>
        <p:txBody>
          <a:bodyPr wrap="square" lIns="0" tIns="0" rIns="0" bIns="0" rtlCol="0" anchor="ctr"/>
          <a:lstStyle/>
          <a:p>
            <a:pPr indent="0" marL="0">
              <a:buNone/>
            </a:pPr>
            <a:r>
              <a:rPr lang="en-US" sz="1200" dirty="0">
                <a:solidFill>
                  <a:srgbClr val="5B6770"/>
                </a:solidFill>
                <a:latin typeface="Calibri" pitchFamily="34" charset="0"/>
                <a:ea typeface="Calibri" pitchFamily="34" charset="-122"/>
                <a:cs typeface="Calibri" pitchFamily="34" charset="-120"/>
              </a:rPr>
              <a:t>cost score = cheapest plan ÷ this plan</a:t>
            </a:r>
            <a:endParaRPr lang="en-US" sz="1200" dirty="0"/>
          </a:p>
        </p:txBody>
      </p:sp>
      <p:sp>
        <p:nvSpPr>
          <p:cNvPr id="7" name="Shape 4"/>
          <p:cNvSpPr/>
          <p:nvPr/>
        </p:nvSpPr>
        <p:spPr>
          <a:xfrm>
            <a:off x="6126480" y="1234440"/>
            <a:ext cx="2468880" cy="3154680"/>
          </a:xfrm>
          <a:prstGeom prst="roundRect">
            <a:avLst>
              <a:gd name="adj" fmla="val 4444"/>
            </a:avLst>
          </a:prstGeom>
          <a:solidFill>
            <a:srgbClr val="F1F4F7"/>
          </a:solidFill>
          <a:ln w="12700">
            <a:solidFill>
              <a:srgbClr val="F1F4F7"/>
            </a:solidFill>
            <a:prstDash val="solid"/>
          </a:ln>
        </p:spPr>
      </p:sp>
      <p:sp>
        <p:nvSpPr>
          <p:cNvPr id="8" name="Text 5"/>
          <p:cNvSpPr/>
          <p:nvPr/>
        </p:nvSpPr>
        <p:spPr>
          <a:xfrm>
            <a:off x="6355080" y="1234440"/>
            <a:ext cx="2103120" cy="3154680"/>
          </a:xfrm>
          <a:prstGeom prst="rect">
            <a:avLst/>
          </a:prstGeom>
          <a:noFill/>
          <a:ln/>
        </p:spPr>
        <p:txBody>
          <a:bodyPr wrap="square" lIns="0" tIns="0" rIns="0" bIns="0" rtlCol="0" anchor="ctr"/>
          <a:lstStyle/>
          <a:p>
            <a:pPr indent="0" marL="0">
              <a:buNone/>
            </a:pPr>
            <a:r>
              <a:rPr lang="en-US" sz="1300" dirty="0">
                <a:solidFill>
                  <a:srgbClr val="5B6770"/>
                </a:solidFill>
                <a:latin typeface="Calibri" pitchFamily="34" charset="0"/>
                <a:ea typeface="Calibri" pitchFamily="34" charset="-122"/>
                <a:cs typeface="Calibri" pitchFamily="34" charset="-120"/>
              </a:rPr>
              <a:t>Add the scores?</a:t>
            </a:r>
            <a:endParaRPr lang="en-US" sz="1300" dirty="0"/>
          </a:p>
          <a:p>
            <a:pPr indent="0" marL="0">
              <a:buNone/>
            </a:pPr>
            <a:r>
              <a:rPr lang="en-US" sz="1900" b="1" dirty="0">
                <a:solidFill>
                  <a:srgbClr val="0F1B2D"/>
                </a:solidFill>
                <a:latin typeface="Calibri" pitchFamily="34" charset="0"/>
                <a:ea typeface="Calibri" pitchFamily="34" charset="-122"/>
                <a:cs typeface="Calibri" pitchFamily="34" charset="-120"/>
              </a:rPr>
              <a:t>C3 wins (2.05)</a:t>
            </a:r>
            <a:endParaRPr lang="en-US" sz="1300" dirty="0"/>
          </a:p>
          <a:p>
            <a:pPr indent="0" marL="0">
              <a:buNone/>
            </a:pPr>
            <a:r>
              <a:rPr lang="en-US" sz="1300" dirty="0">
                <a:solidFill>
                  <a:srgbClr val="B03A2E"/>
                </a:solidFill>
                <a:latin typeface="Calibri" pitchFamily="34" charset="0"/>
                <a:ea typeface="Calibri" pitchFamily="34" charset="-122"/>
                <a:cs typeface="Calibri" pitchFamily="34" charset="-120"/>
              </a:rPr>
              <a:t>but ATC gave it 0.05</a:t>
            </a:r>
            <a:endParaRPr lang="en-US" sz="1300" dirty="0"/>
          </a:p>
          <a:p>
            <a:pPr indent="0" marL="0">
              <a:buNone/>
            </a:pPr>
            <a:r>
              <a:rPr lang="en-US" sz="14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770"/>
                </a:solidFill>
                <a:latin typeface="Calibri" pitchFamily="34" charset="0"/>
                <a:ea typeface="Calibri" pitchFamily="34" charset="-122"/>
                <a:cs typeface="Calibri" pitchFamily="34" charset="-120"/>
              </a:rPr>
              <a:t>Multiply them?</a:t>
            </a:r>
            <a:endParaRPr lang="en-US" sz="1300" dirty="0"/>
          </a:p>
          <a:p>
            <a:pPr indent="0" marL="0">
              <a:buNone/>
            </a:pPr>
            <a:r>
              <a:rPr lang="en-US" sz="1900" b="1" dirty="0">
                <a:solidFill>
                  <a:srgbClr val="0F1B2D"/>
                </a:solidFill>
                <a:latin typeface="Calibri" pitchFamily="34" charset="0"/>
                <a:ea typeface="Calibri" pitchFamily="34" charset="-122"/>
                <a:cs typeface="Calibri" pitchFamily="34" charset="-120"/>
              </a:rPr>
              <a:t>C2 wins</a:t>
            </a:r>
            <a:endParaRPr lang="en-US" sz="1300" dirty="0"/>
          </a:p>
          <a:p>
            <a:pPr indent="0" marL="0">
              <a:buNone/>
            </a:pPr>
            <a:r>
              <a:rPr lang="en-US" sz="1300" dirty="0">
                <a:solidFill>
                  <a:srgbClr val="2E9E5B"/>
                </a:solidFill>
                <a:latin typeface="Calibri" pitchFamily="34" charset="0"/>
                <a:ea typeface="Calibri" pitchFamily="34" charset="-122"/>
                <a:cs typeface="Calibri" pitchFamily="34" charset="-120"/>
              </a:rPr>
              <a:t>nobody is sacrificed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0F1B2D"/>
                </a:solidFill>
                <a:latin typeface="Cambria" pitchFamily="34" charset="0"/>
                <a:ea typeface="Cambria" pitchFamily="34" charset="-122"/>
                <a:cs typeface="Cambria" pitchFamily="34" charset="-120"/>
              </a:rPr>
              <a:t>Round 3: agree, or the fallback decides</a:t>
            </a:r>
            <a:endParaRPr lang="en-US" sz="2800" dirty="0"/>
          </a:p>
        </p:txBody>
      </p:sp>
      <p:sp>
        <p:nvSpPr>
          <p:cNvPr id="3" name="Shape 1"/>
          <p:cNvSpPr/>
          <p:nvPr/>
        </p:nvSpPr>
        <p:spPr>
          <a:xfrm>
            <a:off x="548640" y="1234440"/>
            <a:ext cx="2194560" cy="3108960"/>
          </a:xfrm>
          <a:prstGeom prst="roundRect">
            <a:avLst>
              <a:gd name="adj" fmla="val 5000"/>
            </a:avLst>
          </a:prstGeom>
          <a:solidFill>
            <a:srgbClr val="0F1B2D"/>
          </a:solidFill>
          <a:ln w="12700">
            <a:solidFill>
              <a:srgbClr val="0F1B2D"/>
            </a:solidFill>
            <a:prstDash val="solid"/>
          </a:ln>
        </p:spPr>
      </p:sp>
      <p:sp>
        <p:nvSpPr>
          <p:cNvPr id="4" name="Text 2"/>
          <p:cNvSpPr/>
          <p:nvPr/>
        </p:nvSpPr>
        <p:spPr>
          <a:xfrm>
            <a:off x="548640" y="1371600"/>
            <a:ext cx="21945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VOTE</a:t>
            </a:r>
            <a:endParaRPr lang="en-US" sz="1600" dirty="0"/>
          </a:p>
        </p:txBody>
      </p:sp>
      <p:sp>
        <p:nvSpPr>
          <p:cNvPr id="5" name="Shape 3"/>
          <p:cNvSpPr/>
          <p:nvPr/>
        </p:nvSpPr>
        <p:spPr>
          <a:xfrm>
            <a:off x="1348740" y="1897380"/>
            <a:ext cx="594360" cy="594360"/>
          </a:xfrm>
          <a:prstGeom prst="ellipse">
            <a:avLst/>
          </a:prstGeom>
          <a:solidFill>
            <a:srgbClr val="2E86AB"/>
          </a:solidFill>
          <a:ln w="12700">
            <a:solidFill>
              <a:srgbClr val="2E86AB"/>
            </a:solidFill>
            <a:prstDash val="solid"/>
          </a:ln>
        </p:spPr>
      </p:sp>
      <p:sp>
        <p:nvSpPr>
          <p:cNvPr id="6" name="Text 4"/>
          <p:cNvSpPr/>
          <p:nvPr/>
        </p:nvSpPr>
        <p:spPr>
          <a:xfrm>
            <a:off x="1348740" y="1897380"/>
            <a:ext cx="594360" cy="5943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ATC</a:t>
            </a:r>
            <a:endParaRPr lang="en-US" sz="1000" dirty="0"/>
          </a:p>
        </p:txBody>
      </p:sp>
      <p:sp>
        <p:nvSpPr>
          <p:cNvPr id="7" name="Shape 5"/>
          <p:cNvSpPr/>
          <p:nvPr/>
        </p:nvSpPr>
        <p:spPr>
          <a:xfrm>
            <a:off x="1348740" y="2628900"/>
            <a:ext cx="594360" cy="594360"/>
          </a:xfrm>
          <a:prstGeom prst="ellipse">
            <a:avLst/>
          </a:prstGeom>
          <a:solidFill>
            <a:srgbClr val="E4572E"/>
          </a:solidFill>
          <a:ln w="12700">
            <a:solidFill>
              <a:srgbClr val="E4572E"/>
            </a:solidFill>
            <a:prstDash val="solid"/>
          </a:ln>
        </p:spPr>
      </p:sp>
      <p:sp>
        <p:nvSpPr>
          <p:cNvPr id="8" name="Text 6"/>
          <p:cNvSpPr/>
          <p:nvPr/>
        </p:nvSpPr>
        <p:spPr>
          <a:xfrm>
            <a:off x="1348740" y="2628900"/>
            <a:ext cx="594360" cy="5943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PILOT</a:t>
            </a:r>
            <a:endParaRPr lang="en-US" sz="1000" dirty="0"/>
          </a:p>
        </p:txBody>
      </p:sp>
      <p:sp>
        <p:nvSpPr>
          <p:cNvPr id="9" name="Shape 7"/>
          <p:cNvSpPr/>
          <p:nvPr/>
        </p:nvSpPr>
        <p:spPr>
          <a:xfrm>
            <a:off x="1348740" y="3360420"/>
            <a:ext cx="594360" cy="594360"/>
          </a:xfrm>
          <a:prstGeom prst="ellipse">
            <a:avLst/>
          </a:prstGeom>
          <a:solidFill>
            <a:srgbClr val="2E9E5B"/>
          </a:solidFill>
          <a:ln w="12700">
            <a:solidFill>
              <a:srgbClr val="2E9E5B"/>
            </a:solidFill>
            <a:prstDash val="solid"/>
          </a:ln>
        </p:spPr>
      </p:sp>
      <p:sp>
        <p:nvSpPr>
          <p:cNvPr id="10" name="Text 8"/>
          <p:cNvSpPr/>
          <p:nvPr/>
        </p:nvSpPr>
        <p:spPr>
          <a:xfrm>
            <a:off x="1348740" y="3360420"/>
            <a:ext cx="594360" cy="59436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GROUND</a:t>
            </a:r>
            <a:endParaRPr lang="en-US" sz="800" dirty="0"/>
          </a:p>
        </p:txBody>
      </p:sp>
      <p:sp>
        <p:nvSpPr>
          <p:cNvPr id="11" name="Shape 9"/>
          <p:cNvSpPr/>
          <p:nvPr/>
        </p:nvSpPr>
        <p:spPr>
          <a:xfrm>
            <a:off x="3657600" y="1463040"/>
            <a:ext cx="4937760" cy="1005840"/>
          </a:xfrm>
          <a:prstGeom prst="roundRect">
            <a:avLst>
              <a:gd name="adj" fmla="val 10909"/>
            </a:avLst>
          </a:prstGeom>
          <a:solidFill>
            <a:srgbClr val="2E9E5B"/>
          </a:solidFill>
          <a:ln w="12700">
            <a:solidFill>
              <a:srgbClr val="2E9E5B"/>
            </a:solidFill>
            <a:prstDash val="solid"/>
          </a:ln>
        </p:spPr>
      </p:sp>
      <p:sp>
        <p:nvSpPr>
          <p:cNvPr id="12" name="Text 10"/>
          <p:cNvSpPr/>
          <p:nvPr/>
        </p:nvSpPr>
        <p:spPr>
          <a:xfrm>
            <a:off x="3886200" y="1463040"/>
            <a:ext cx="4526280" cy="10058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Consensus</a:t>
            </a:r>
            <a:endParaRPr lang="en-US" sz="2000" dirty="0"/>
          </a:p>
          <a:p>
            <a:pPr indent="0" marL="0">
              <a:buNone/>
            </a:pPr>
            <a:r>
              <a:rPr lang="en-US" sz="1400" dirty="0">
                <a:solidFill>
                  <a:srgbClr val="FFFFFF"/>
                </a:solidFill>
                <a:latin typeface="Calibri" pitchFamily="34" charset="0"/>
                <a:ea typeface="Calibri" pitchFamily="34" charset="-122"/>
                <a:cs typeface="Calibri" pitchFamily="34" charset="-120"/>
              </a:rPr>
              <a:t>All 3 accept: the plan goes to the human</a:t>
            </a:r>
            <a:endParaRPr lang="en-US" sz="2000" dirty="0"/>
          </a:p>
        </p:txBody>
      </p:sp>
      <p:sp>
        <p:nvSpPr>
          <p:cNvPr id="13" name="Shape 11"/>
          <p:cNvSpPr/>
          <p:nvPr/>
        </p:nvSpPr>
        <p:spPr>
          <a:xfrm flipV="1">
            <a:off x="2743200" y="1965960"/>
            <a:ext cx="914400" cy="822960"/>
          </a:xfrm>
          <a:prstGeom prst="line">
            <a:avLst/>
          </a:prstGeom>
          <a:noFill/>
          <a:ln w="19050">
            <a:solidFill>
              <a:srgbClr val="5B6770"/>
            </a:solidFill>
            <a:prstDash val="solid"/>
            <a:tailEnd type="triangle"/>
          </a:ln>
        </p:spPr>
      </p:sp>
      <p:sp>
        <p:nvSpPr>
          <p:cNvPr id="14" name="Shape 12"/>
          <p:cNvSpPr/>
          <p:nvPr/>
        </p:nvSpPr>
        <p:spPr>
          <a:xfrm>
            <a:off x="3657600" y="2926080"/>
            <a:ext cx="4937760" cy="1005840"/>
          </a:xfrm>
          <a:prstGeom prst="roundRect">
            <a:avLst>
              <a:gd name="adj" fmla="val 10909"/>
            </a:avLst>
          </a:prstGeom>
          <a:solidFill>
            <a:srgbClr val="F5A623"/>
          </a:solidFill>
          <a:ln w="12700">
            <a:solidFill>
              <a:srgbClr val="F5A623"/>
            </a:solidFill>
            <a:prstDash val="solid"/>
          </a:ln>
        </p:spPr>
      </p:sp>
      <p:sp>
        <p:nvSpPr>
          <p:cNvPr id="15" name="Text 13"/>
          <p:cNvSpPr/>
          <p:nvPr/>
        </p:nvSpPr>
        <p:spPr>
          <a:xfrm>
            <a:off x="3886200" y="2926080"/>
            <a:ext cx="4526280" cy="1005840"/>
          </a:xfrm>
          <a:prstGeom prst="rect">
            <a:avLst/>
          </a:prstGeom>
          <a:noFill/>
          <a:ln/>
        </p:spPr>
        <p:txBody>
          <a:bodyPr wrap="square" lIns="0" tIns="0" rIns="0" bIns="0" rtlCol="0" anchor="ctr"/>
          <a:lstStyle/>
          <a:p>
            <a:pPr indent="0" marL="0">
              <a:buNone/>
            </a:pPr>
            <a:r>
              <a:rPr lang="en-US" sz="2000" b="1" dirty="0">
                <a:solidFill>
                  <a:srgbClr val="0F1B2D"/>
                </a:solidFill>
                <a:latin typeface="Calibri" pitchFamily="34" charset="0"/>
                <a:ea typeface="Calibri" pitchFamily="34" charset="-122"/>
                <a:cs typeface="Calibri" pitchFamily="34" charset="-120"/>
              </a:rPr>
              <a:t>Fallback</a:t>
            </a:r>
            <a:endParaRPr lang="en-US" sz="2000" dirty="0"/>
          </a:p>
          <a:p>
            <a:pPr indent="0" marL="0">
              <a:buNone/>
            </a:pPr>
            <a:r>
              <a:rPr lang="en-US" sz="1400" dirty="0">
                <a:solidFill>
                  <a:srgbClr val="0F1B2D"/>
                </a:solidFill>
                <a:latin typeface="Calibri" pitchFamily="34" charset="0"/>
                <a:ea typeface="Calibri" pitchFamily="34" charset="-122"/>
                <a:cs typeface="Calibri" pitchFamily="34" charset="-120"/>
              </a:rPr>
              <a:t>Any reject: the cheapest plan that passes every rule (same safety checker), then the human decides</a:t>
            </a:r>
            <a:endParaRPr lang="en-US" sz="2000" dirty="0"/>
          </a:p>
        </p:txBody>
      </p:sp>
      <p:sp>
        <p:nvSpPr>
          <p:cNvPr id="16" name="Shape 14"/>
          <p:cNvSpPr/>
          <p:nvPr/>
        </p:nvSpPr>
        <p:spPr>
          <a:xfrm>
            <a:off x="2743200" y="2788920"/>
            <a:ext cx="914400" cy="640080"/>
          </a:xfrm>
          <a:prstGeom prst="line">
            <a:avLst/>
          </a:prstGeom>
          <a:noFill/>
          <a:ln w="19050">
            <a:solidFill>
              <a:srgbClr val="5B6770"/>
            </a:solidFill>
            <a:prstDash val="solid"/>
            <a:tailEnd type="triangle"/>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0F1B2D"/>
                </a:solidFill>
                <a:latin typeface="Cambria" pitchFamily="34" charset="0"/>
                <a:ea typeface="Cambria" pitchFamily="34" charset="-122"/>
                <a:cs typeface="Cambria" pitchFamily="34" charset="-120"/>
              </a:rPr>
              <a:t>Tested live on 30 flights</a:t>
            </a:r>
            <a:endParaRPr lang="en-US" sz="2800" dirty="0"/>
          </a:p>
        </p:txBody>
      </p:sp>
      <p:sp>
        <p:nvSpPr>
          <p:cNvPr id="3" name="Shape 1"/>
          <p:cNvSpPr/>
          <p:nvPr/>
        </p:nvSpPr>
        <p:spPr>
          <a:xfrm>
            <a:off x="548640" y="1188720"/>
            <a:ext cx="4023360" cy="2926080"/>
          </a:xfrm>
          <a:prstGeom prst="roundRect">
            <a:avLst>
              <a:gd name="adj" fmla="val 3750"/>
            </a:avLst>
          </a:prstGeom>
          <a:solidFill>
            <a:srgbClr val="F1F4F7"/>
          </a:solidFill>
          <a:ln w="12700">
            <a:solidFill>
              <a:srgbClr val="F1F4F7"/>
            </a:solidFill>
            <a:prstDash val="solid"/>
          </a:ln>
        </p:spPr>
      </p:sp>
      <p:sp>
        <p:nvSpPr>
          <p:cNvPr id="4" name="Shape 2"/>
          <p:cNvSpPr/>
          <p:nvPr/>
        </p:nvSpPr>
        <p:spPr>
          <a:xfrm>
            <a:off x="777240" y="1371600"/>
            <a:ext cx="1188720" cy="292608"/>
          </a:xfrm>
          <a:prstGeom prst="roundRect">
            <a:avLst>
              <a:gd name="adj" fmla="val 50000"/>
            </a:avLst>
          </a:prstGeom>
          <a:solidFill>
            <a:srgbClr val="2E9E5B"/>
          </a:solidFill>
          <a:ln w="12700">
            <a:solidFill>
              <a:srgbClr val="2E9E5B"/>
            </a:solidFill>
            <a:prstDash val="solid"/>
          </a:ln>
        </p:spPr>
      </p:sp>
      <p:sp>
        <p:nvSpPr>
          <p:cNvPr id="5" name="Text 3"/>
          <p:cNvSpPr/>
          <p:nvPr/>
        </p:nvSpPr>
        <p:spPr>
          <a:xfrm>
            <a:off x="777240" y="1371600"/>
            <a:ext cx="118872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AGREED</a:t>
            </a:r>
            <a:endParaRPr lang="en-US" sz="1100" dirty="0"/>
          </a:p>
        </p:txBody>
      </p:sp>
      <p:sp>
        <p:nvSpPr>
          <p:cNvPr id="6" name="Text 4"/>
          <p:cNvSpPr/>
          <p:nvPr/>
        </p:nvSpPr>
        <p:spPr>
          <a:xfrm>
            <a:off x="777240" y="1828800"/>
            <a:ext cx="3566160" cy="32004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MQ3086 · DFW · weather</a:t>
            </a:r>
            <a:endParaRPr lang="en-US" sz="1500" dirty="0"/>
          </a:p>
        </p:txBody>
      </p:sp>
      <p:sp>
        <p:nvSpPr>
          <p:cNvPr id="7" name="Text 5"/>
          <p:cNvSpPr/>
          <p:nvPr/>
        </p:nvSpPr>
        <p:spPr>
          <a:xfrm>
            <a:off x="777240" y="2240280"/>
            <a:ext cx="3566160" cy="640080"/>
          </a:xfrm>
          <a:prstGeom prst="rect">
            <a:avLst/>
          </a:prstGeom>
          <a:noFill/>
          <a:ln/>
        </p:spPr>
        <p:txBody>
          <a:bodyPr wrap="square" lIns="0" tIns="0" rIns="0" bIns="0" rtlCol="0" anchor="ctr"/>
          <a:lstStyle/>
          <a:p>
            <a:pPr indent="0" marL="0">
              <a:buNone/>
            </a:pPr>
            <a:r>
              <a:rPr lang="en-US" sz="3400" b="1" dirty="0">
                <a:solidFill>
                  <a:srgbClr val="0F1B2D"/>
                </a:solidFill>
                <a:latin typeface="Cambria" pitchFamily="34" charset="0"/>
                <a:ea typeface="Cambria" pitchFamily="34" charset="-122"/>
                <a:cs typeface="Cambria" pitchFamily="34" charset="-120"/>
              </a:rPr>
              <a:t>Land 21:09</a:t>
            </a:r>
            <a:endParaRPr lang="en-US" sz="3400" dirty="0"/>
          </a:p>
        </p:txBody>
      </p:sp>
      <p:sp>
        <p:nvSpPr>
          <p:cNvPr id="8" name="Text 6"/>
          <p:cNvSpPr/>
          <p:nvPr/>
        </p:nvSpPr>
        <p:spPr>
          <a:xfrm>
            <a:off x="777240" y="2971800"/>
            <a:ext cx="3566160" cy="914400"/>
          </a:xfrm>
          <a:prstGeom prst="rect">
            <a:avLst/>
          </a:prstGeom>
          <a:noFill/>
          <a:ln/>
        </p:spPr>
        <p:txBody>
          <a:bodyPr wrap="square" lIns="0" tIns="0" rIns="0" bIns="0" rtlCol="0" anchor="t"/>
          <a:lstStyle/>
          <a:p>
            <a:pPr indent="0" marL="0">
              <a:buNone/>
            </a:pPr>
            <a:r>
              <a:rPr lang="en-US" sz="1400" dirty="0">
                <a:solidFill>
                  <a:srgbClr val="5B6770"/>
                </a:solidFill>
                <a:latin typeface="Calibri" pitchFamily="34" charset="0"/>
                <a:ea typeface="Calibri" pitchFamily="34" charset="-122"/>
                <a:cs typeface="Calibri" pitchFamily="34" charset="-120"/>
              </a:rPr>
              <a:t>105 min ground delay · gate B20</a:t>
            </a:r>
            <a:endParaRPr lang="en-US" sz="1400" dirty="0"/>
          </a:p>
          <a:p>
            <a:pPr indent="0" marL="0">
              <a:buNone/>
            </a:pPr>
            <a:r>
              <a:rPr lang="en-US" sz="1400" dirty="0">
                <a:solidFill>
                  <a:srgbClr val="5B6770"/>
                </a:solidFill>
                <a:latin typeface="Calibri" pitchFamily="34" charset="0"/>
                <a:ea typeface="Calibri" pitchFamily="34" charset="-122"/>
                <a:cs typeface="Calibri" pitchFamily="34" charset="-120"/>
              </a:rPr>
              <a:t>$11,915 system cost</a:t>
            </a:r>
            <a:endParaRPr lang="en-US" sz="1400" dirty="0"/>
          </a:p>
          <a:p>
            <a:pPr indent="0" marL="0">
              <a:buNone/>
            </a:pPr>
            <a:r>
              <a:rPr lang="en-US" sz="1400" dirty="0">
                <a:solidFill>
                  <a:srgbClr val="5B6770"/>
                </a:solidFill>
                <a:latin typeface="Calibri" pitchFamily="34" charset="0"/>
                <a:ea typeface="Calibri" pitchFamily="34" charset="-122"/>
                <a:cs typeface="Calibri" pitchFamily="34" charset="-120"/>
              </a:rPr>
              <a:t>3 of 3 agents accept</a:t>
            </a:r>
            <a:endParaRPr lang="en-US" sz="1400" dirty="0"/>
          </a:p>
        </p:txBody>
      </p:sp>
      <p:sp>
        <p:nvSpPr>
          <p:cNvPr id="9" name="Shape 7"/>
          <p:cNvSpPr/>
          <p:nvPr/>
        </p:nvSpPr>
        <p:spPr>
          <a:xfrm>
            <a:off x="4754880" y="1188720"/>
            <a:ext cx="3840480" cy="896112"/>
          </a:xfrm>
          <a:prstGeom prst="roundRect">
            <a:avLst>
              <a:gd name="adj" fmla="val 12245"/>
            </a:avLst>
          </a:prstGeom>
          <a:solidFill>
            <a:srgbClr val="F1F4F7"/>
          </a:solidFill>
          <a:ln w="12700">
            <a:solidFill>
              <a:srgbClr val="F1F4F7"/>
            </a:solidFill>
            <a:prstDash val="solid"/>
          </a:ln>
        </p:spPr>
      </p:sp>
      <p:sp>
        <p:nvSpPr>
          <p:cNvPr id="10" name="Text 8"/>
          <p:cNvSpPr/>
          <p:nvPr/>
        </p:nvSpPr>
        <p:spPr>
          <a:xfrm>
            <a:off x="4937760" y="1188720"/>
            <a:ext cx="914400" cy="896112"/>
          </a:xfrm>
          <a:prstGeom prst="rect">
            <a:avLst/>
          </a:prstGeom>
          <a:noFill/>
          <a:ln/>
        </p:spPr>
        <p:txBody>
          <a:bodyPr wrap="square" lIns="0" tIns="0" rIns="0" bIns="0" rtlCol="0" anchor="ctr"/>
          <a:lstStyle/>
          <a:p>
            <a:pPr algn="ctr" indent="0" marL="0">
              <a:buNone/>
            </a:pPr>
            <a:r>
              <a:rPr lang="en-US" sz="3600" b="1" dirty="0">
                <a:solidFill>
                  <a:srgbClr val="0F1B2D"/>
                </a:solidFill>
                <a:latin typeface="Cambria" pitchFamily="34" charset="0"/>
                <a:ea typeface="Cambria" pitchFamily="34" charset="-122"/>
                <a:cs typeface="Cambria" pitchFamily="34" charset="-120"/>
              </a:rPr>
              <a:t>30</a:t>
            </a:r>
            <a:endParaRPr lang="en-US" sz="3600" dirty="0"/>
          </a:p>
        </p:txBody>
      </p:sp>
      <p:sp>
        <p:nvSpPr>
          <p:cNvPr id="11" name="Text 9"/>
          <p:cNvSpPr/>
          <p:nvPr/>
        </p:nvSpPr>
        <p:spPr>
          <a:xfrm>
            <a:off x="5943600" y="1188720"/>
            <a:ext cx="2560320" cy="896112"/>
          </a:xfrm>
          <a:prstGeom prst="rect">
            <a:avLst/>
          </a:prstGeom>
          <a:noFill/>
          <a:ln/>
        </p:spPr>
        <p:txBody>
          <a:bodyPr wrap="square" lIns="0" tIns="0" rIns="0" bIns="0" rtlCol="0" anchor="ctr"/>
          <a:lstStyle/>
          <a:p>
            <a:pPr indent="0" marL="0">
              <a:buNone/>
            </a:pPr>
            <a:r>
              <a:rPr lang="en-US" sz="1800" dirty="0">
                <a:solidFill>
                  <a:srgbClr val="0F1B2D"/>
                </a:solidFill>
                <a:latin typeface="Calibri" pitchFamily="34" charset="0"/>
                <a:ea typeface="Calibri" pitchFamily="34" charset="-122"/>
                <a:cs typeface="Calibri" pitchFamily="34" charset="-120"/>
              </a:rPr>
              <a:t>live flights run</a:t>
            </a:r>
            <a:endParaRPr lang="en-US" sz="1800" dirty="0"/>
          </a:p>
        </p:txBody>
      </p:sp>
      <p:sp>
        <p:nvSpPr>
          <p:cNvPr id="12" name="Shape 10"/>
          <p:cNvSpPr/>
          <p:nvPr/>
        </p:nvSpPr>
        <p:spPr>
          <a:xfrm>
            <a:off x="4754880" y="2212848"/>
            <a:ext cx="3840480" cy="896112"/>
          </a:xfrm>
          <a:prstGeom prst="roundRect">
            <a:avLst>
              <a:gd name="adj" fmla="val 12245"/>
            </a:avLst>
          </a:prstGeom>
          <a:solidFill>
            <a:srgbClr val="F1F4F7"/>
          </a:solidFill>
          <a:ln w="12700">
            <a:solidFill>
              <a:srgbClr val="F1F4F7"/>
            </a:solidFill>
            <a:prstDash val="solid"/>
          </a:ln>
        </p:spPr>
      </p:sp>
      <p:sp>
        <p:nvSpPr>
          <p:cNvPr id="13" name="Text 11"/>
          <p:cNvSpPr/>
          <p:nvPr/>
        </p:nvSpPr>
        <p:spPr>
          <a:xfrm>
            <a:off x="4937760" y="2212848"/>
            <a:ext cx="914400" cy="896112"/>
          </a:xfrm>
          <a:prstGeom prst="rect">
            <a:avLst/>
          </a:prstGeom>
          <a:noFill/>
          <a:ln/>
        </p:spPr>
        <p:txBody>
          <a:bodyPr wrap="square" lIns="0" tIns="0" rIns="0" bIns="0" rtlCol="0" anchor="ctr"/>
          <a:lstStyle/>
          <a:p>
            <a:pPr algn="ctr" indent="0" marL="0">
              <a:buNone/>
            </a:pPr>
            <a:r>
              <a:rPr lang="en-US" sz="3600" b="1" dirty="0">
                <a:solidFill>
                  <a:srgbClr val="0F1B2D"/>
                </a:solidFill>
                <a:latin typeface="Cambria" pitchFamily="34" charset="0"/>
                <a:ea typeface="Cambria" pitchFamily="34" charset="-122"/>
                <a:cs typeface="Cambria" pitchFamily="34" charset="-120"/>
              </a:rPr>
              <a:t>26</a:t>
            </a:r>
            <a:endParaRPr lang="en-US" sz="3600" dirty="0"/>
          </a:p>
        </p:txBody>
      </p:sp>
      <p:sp>
        <p:nvSpPr>
          <p:cNvPr id="14" name="Text 12"/>
          <p:cNvSpPr/>
          <p:nvPr/>
        </p:nvSpPr>
        <p:spPr>
          <a:xfrm>
            <a:off x="5943600" y="2212848"/>
            <a:ext cx="2560320" cy="896112"/>
          </a:xfrm>
          <a:prstGeom prst="rect">
            <a:avLst/>
          </a:prstGeom>
          <a:noFill/>
          <a:ln/>
        </p:spPr>
        <p:txBody>
          <a:bodyPr wrap="square" lIns="0" tIns="0" rIns="0" bIns="0" rtlCol="0" anchor="ctr"/>
          <a:lstStyle/>
          <a:p>
            <a:pPr indent="0" marL="0">
              <a:buNone/>
            </a:pPr>
            <a:r>
              <a:rPr lang="en-US" sz="1800" dirty="0">
                <a:solidFill>
                  <a:srgbClr val="0F1B2D"/>
                </a:solidFill>
                <a:latin typeface="Calibri" pitchFamily="34" charset="0"/>
                <a:ea typeface="Calibri" pitchFamily="34" charset="-122"/>
                <a:cs typeface="Calibri" pitchFamily="34" charset="-120"/>
              </a:rPr>
              <a:t>reached consensus (87%)</a:t>
            </a:r>
            <a:endParaRPr lang="en-US" sz="1800" dirty="0"/>
          </a:p>
        </p:txBody>
      </p:sp>
      <p:sp>
        <p:nvSpPr>
          <p:cNvPr id="15" name="Shape 13"/>
          <p:cNvSpPr/>
          <p:nvPr/>
        </p:nvSpPr>
        <p:spPr>
          <a:xfrm>
            <a:off x="4754880" y="3236976"/>
            <a:ext cx="3840480" cy="896112"/>
          </a:xfrm>
          <a:prstGeom prst="roundRect">
            <a:avLst>
              <a:gd name="adj" fmla="val 12245"/>
            </a:avLst>
          </a:prstGeom>
          <a:solidFill>
            <a:srgbClr val="F1F4F7"/>
          </a:solidFill>
          <a:ln w="12700">
            <a:solidFill>
              <a:srgbClr val="F1F4F7"/>
            </a:solidFill>
            <a:prstDash val="solid"/>
          </a:ln>
        </p:spPr>
      </p:sp>
      <p:sp>
        <p:nvSpPr>
          <p:cNvPr id="16" name="Text 14"/>
          <p:cNvSpPr/>
          <p:nvPr/>
        </p:nvSpPr>
        <p:spPr>
          <a:xfrm>
            <a:off x="4937760" y="3236976"/>
            <a:ext cx="914400" cy="896112"/>
          </a:xfrm>
          <a:prstGeom prst="rect">
            <a:avLst/>
          </a:prstGeom>
          <a:noFill/>
          <a:ln/>
        </p:spPr>
        <p:txBody>
          <a:bodyPr wrap="square" lIns="0" tIns="0" rIns="0" bIns="0" rtlCol="0" anchor="ctr"/>
          <a:lstStyle/>
          <a:p>
            <a:pPr algn="ctr" indent="0" marL="0">
              <a:buNone/>
            </a:pPr>
            <a:r>
              <a:rPr lang="en-US" sz="3600" b="1" dirty="0">
                <a:solidFill>
                  <a:srgbClr val="0F1B2D"/>
                </a:solidFill>
                <a:latin typeface="Cambria" pitchFamily="34" charset="0"/>
                <a:ea typeface="Cambria" pitchFamily="34" charset="-122"/>
                <a:cs typeface="Cambria" pitchFamily="34" charset="-120"/>
              </a:rPr>
              <a:t>0</a:t>
            </a:r>
            <a:endParaRPr lang="en-US" sz="3600" dirty="0"/>
          </a:p>
        </p:txBody>
      </p:sp>
      <p:sp>
        <p:nvSpPr>
          <p:cNvPr id="17" name="Text 15"/>
          <p:cNvSpPr/>
          <p:nvPr/>
        </p:nvSpPr>
        <p:spPr>
          <a:xfrm>
            <a:off x="5943600" y="3236976"/>
            <a:ext cx="2560320" cy="896112"/>
          </a:xfrm>
          <a:prstGeom prst="rect">
            <a:avLst/>
          </a:prstGeom>
          <a:noFill/>
          <a:ln/>
        </p:spPr>
        <p:txBody>
          <a:bodyPr wrap="square" lIns="0" tIns="0" rIns="0" bIns="0" rtlCol="0" anchor="ctr"/>
          <a:lstStyle/>
          <a:p>
            <a:pPr indent="0" marL="0">
              <a:buNone/>
            </a:pPr>
            <a:r>
              <a:rPr lang="en-US" sz="1800" dirty="0">
                <a:solidFill>
                  <a:srgbClr val="0F1B2D"/>
                </a:solidFill>
                <a:latin typeface="Calibri" pitchFamily="34" charset="0"/>
                <a:ea typeface="Calibri" pitchFamily="34" charset="-122"/>
                <a:cs typeface="Calibri" pitchFamily="34" charset="-120"/>
              </a:rPr>
              <a:t>unsafe plans chosen</a:t>
            </a:r>
            <a:endParaRPr lang="en-US" sz="1800" dirty="0"/>
          </a:p>
        </p:txBody>
      </p:sp>
      <p:sp>
        <p:nvSpPr>
          <p:cNvPr id="18" name="Text 16"/>
          <p:cNvSpPr/>
          <p:nvPr/>
        </p:nvSpPr>
        <p:spPr>
          <a:xfrm>
            <a:off x="548640" y="4297680"/>
            <a:ext cx="8046720" cy="548640"/>
          </a:xfrm>
          <a:prstGeom prst="rect">
            <a:avLst/>
          </a:prstGeom>
          <a:noFill/>
          <a:ln/>
        </p:spPr>
        <p:txBody>
          <a:bodyPr wrap="square" lIns="0" tIns="0" rIns="0" bIns="0" rtlCol="0" anchor="ctr"/>
          <a:lstStyle/>
          <a:p>
            <a:pPr indent="0" marL="0">
              <a:buNone/>
            </a:pPr>
            <a:r>
              <a:rPr lang="en-US" sz="1400" b="1" dirty="0">
                <a:solidFill>
                  <a:srgbClr val="0F1B2D"/>
                </a:solidFill>
                <a:latin typeface="Calibri" pitchFamily="34" charset="0"/>
                <a:ea typeface="Calibri" pitchFamily="34" charset="-122"/>
                <a:cs typeface="Calibri" pitchFamily="34" charset="-120"/>
              </a:rPr>
              <a:t>Average cost: agents $5,858 vs cheapest-valid baseline $5,327 (+10%). 0 errors in 30 runs.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365760"/>
            <a:ext cx="804672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Limits and next steps</a:t>
            </a:r>
            <a:endParaRPr lang="en-US" sz="2800" dirty="0"/>
          </a:p>
        </p:txBody>
      </p:sp>
      <p:sp>
        <p:nvSpPr>
          <p:cNvPr id="3" name="Shape 1"/>
          <p:cNvSpPr/>
          <p:nvPr/>
        </p:nvSpPr>
        <p:spPr>
          <a:xfrm>
            <a:off x="640080" y="1280160"/>
            <a:ext cx="457200" cy="457200"/>
          </a:xfrm>
          <a:prstGeom prst="ellipse">
            <a:avLst/>
          </a:prstGeom>
          <a:solidFill>
            <a:srgbClr val="F5A623"/>
          </a:solidFill>
          <a:ln w="12700">
            <a:solidFill>
              <a:srgbClr val="F5A623"/>
            </a:solidFill>
            <a:prstDash val="solid"/>
          </a:ln>
        </p:spPr>
      </p:sp>
      <p:sp>
        <p:nvSpPr>
          <p:cNvPr id="4" name="Text 2"/>
          <p:cNvSpPr/>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0F1B2D"/>
                </a:solidFill>
                <a:latin typeface="Calibri" pitchFamily="34" charset="0"/>
                <a:ea typeface="Calibri" pitchFamily="34" charset="-122"/>
                <a:cs typeface="Calibri" pitchFamily="34" charset="-120"/>
              </a:rPr>
              <a:t>1</a:t>
            </a:r>
            <a:endParaRPr lang="en-US" sz="1600" dirty="0"/>
          </a:p>
        </p:txBody>
      </p:sp>
      <p:sp>
        <p:nvSpPr>
          <p:cNvPr id="5" name="Text 3"/>
          <p:cNvSpPr/>
          <p:nvPr/>
        </p:nvSpPr>
        <p:spPr>
          <a:xfrm>
            <a:off x="1371600" y="1234440"/>
            <a:ext cx="7223760" cy="54864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Synthetic gates and crew (labelled)</a:t>
            </a:r>
            <a:pPr indent="0" marL="0">
              <a:buNone/>
            </a:pPr>
            <a:r>
              <a:rPr lang="en-US" sz="1800" b="1" dirty="0">
                <a:solidFill>
                  <a:srgbClr val="F5A623"/>
                </a:solidFill>
                <a:latin typeface="Calibri" pitchFamily="34" charset="0"/>
                <a:ea typeface="Calibri" pitchFamily="34" charset="-122"/>
                <a:cs typeface="Calibri" pitchFamily="34" charset="-120"/>
              </a:rPr>
              <a:t>   →   </a:t>
            </a:r>
            <a:pPr indent="0" marL="0">
              <a:buNone/>
            </a:pPr>
            <a:r>
              <a:rPr lang="en-US" sz="1800" dirty="0">
                <a:solidFill>
                  <a:srgbClr val="C9D3DF"/>
                </a:solidFill>
                <a:latin typeface="Calibri" pitchFamily="34" charset="0"/>
                <a:ea typeface="Calibri" pitchFamily="34" charset="-122"/>
                <a:cs typeface="Calibri" pitchFamily="34" charset="-120"/>
              </a:rPr>
              <a:t>real airport feeds</a:t>
            </a:r>
            <a:endParaRPr lang="en-US" sz="1800" dirty="0"/>
          </a:p>
        </p:txBody>
      </p:sp>
      <p:sp>
        <p:nvSpPr>
          <p:cNvPr id="6" name="Shape 4"/>
          <p:cNvSpPr/>
          <p:nvPr/>
        </p:nvSpPr>
        <p:spPr>
          <a:xfrm>
            <a:off x="640080" y="2011680"/>
            <a:ext cx="457200" cy="457200"/>
          </a:xfrm>
          <a:prstGeom prst="ellipse">
            <a:avLst/>
          </a:prstGeom>
          <a:solidFill>
            <a:srgbClr val="F5A623"/>
          </a:solidFill>
          <a:ln w="12700">
            <a:solidFill>
              <a:srgbClr val="F5A623"/>
            </a:solidFill>
            <a:prstDash val="solid"/>
          </a:ln>
        </p:spPr>
      </p:sp>
      <p:sp>
        <p:nvSpPr>
          <p:cNvPr id="7" name="Text 5"/>
          <p:cNvSpPr/>
          <p:nvPr/>
        </p:nvSpPr>
        <p:spPr>
          <a:xfrm>
            <a:off x="640080" y="2011680"/>
            <a:ext cx="457200" cy="457200"/>
          </a:xfrm>
          <a:prstGeom prst="rect">
            <a:avLst/>
          </a:prstGeom>
          <a:noFill/>
          <a:ln/>
        </p:spPr>
        <p:txBody>
          <a:bodyPr wrap="square" lIns="0" tIns="0" rIns="0" bIns="0" rtlCol="0" anchor="ctr"/>
          <a:lstStyle/>
          <a:p>
            <a:pPr algn="ctr" indent="0" marL="0">
              <a:buNone/>
            </a:pPr>
            <a:r>
              <a:rPr lang="en-US" sz="1600" b="1" dirty="0">
                <a:solidFill>
                  <a:srgbClr val="0F1B2D"/>
                </a:solidFill>
                <a:latin typeface="Calibri" pitchFamily="34" charset="0"/>
                <a:ea typeface="Calibri" pitchFamily="34" charset="-122"/>
                <a:cs typeface="Calibri" pitchFamily="34" charset="-120"/>
              </a:rPr>
              <a:t>2</a:t>
            </a:r>
            <a:endParaRPr lang="en-US" sz="1600" dirty="0"/>
          </a:p>
        </p:txBody>
      </p:sp>
      <p:sp>
        <p:nvSpPr>
          <p:cNvPr id="8" name="Text 6"/>
          <p:cNvSpPr/>
          <p:nvPr/>
        </p:nvSpPr>
        <p:spPr>
          <a:xfrm>
            <a:off x="1371600" y="1965960"/>
            <a:ext cx="7223760" cy="54864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One focal flight per scenario</a:t>
            </a:r>
            <a:pPr indent="0" marL="0">
              <a:buNone/>
            </a:pPr>
            <a:r>
              <a:rPr lang="en-US" sz="1800" b="1" dirty="0">
                <a:solidFill>
                  <a:srgbClr val="F5A623"/>
                </a:solidFill>
                <a:latin typeface="Calibri" pitchFamily="34" charset="0"/>
                <a:ea typeface="Calibri" pitchFamily="34" charset="-122"/>
                <a:cs typeface="Calibri" pitchFamily="34" charset="-120"/>
              </a:rPr>
              <a:t>   →   </a:t>
            </a:r>
            <a:pPr indent="0" marL="0">
              <a:buNone/>
            </a:pPr>
            <a:r>
              <a:rPr lang="en-US" sz="1800" dirty="0">
                <a:solidFill>
                  <a:srgbClr val="C9D3DF"/>
                </a:solidFill>
                <a:latin typeface="Calibri" pitchFamily="34" charset="0"/>
                <a:ea typeface="Calibri" pitchFamily="34" charset="-122"/>
                <a:cs typeface="Calibri" pitchFamily="34" charset="-120"/>
              </a:rPr>
              <a:t>many flights at once</a:t>
            </a:r>
            <a:endParaRPr lang="en-US" sz="1800" dirty="0"/>
          </a:p>
        </p:txBody>
      </p:sp>
      <p:sp>
        <p:nvSpPr>
          <p:cNvPr id="9" name="Text 7"/>
          <p:cNvSpPr/>
          <p:nvPr/>
        </p:nvSpPr>
        <p:spPr>
          <a:xfrm>
            <a:off x="548640" y="2926080"/>
            <a:ext cx="8046720" cy="1463040"/>
          </a:xfrm>
          <a:prstGeom prst="rect">
            <a:avLst/>
          </a:prstGeom>
          <a:noFill/>
          <a:ln/>
        </p:spPr>
        <p:txBody>
          <a:bodyPr wrap="square" lIns="0" tIns="0" rIns="0" bIns="0" rtlCol="0" anchor="ctr"/>
          <a:lstStyle/>
          <a:p>
            <a:pPr indent="0" marL="0">
              <a:buNone/>
            </a:pPr>
            <a:r>
              <a:rPr lang="en-US" sz="2800" b="1" dirty="0">
                <a:solidFill>
                  <a:srgbClr val="F5A623"/>
                </a:solidFill>
                <a:latin typeface="Cambria" pitchFamily="34" charset="0"/>
                <a:ea typeface="Cambria" pitchFamily="34" charset="-122"/>
                <a:cs typeface="Cambria" pitchFamily="34" charset="-120"/>
              </a:rPr>
              <a:t>Code owns safety.</a:t>
            </a:r>
            <a:endParaRPr lang="en-US" sz="2800" dirty="0"/>
          </a:p>
          <a:p>
            <a:pPr indent="0" marL="0">
              <a:buNone/>
            </a:pPr>
            <a:r>
              <a:rPr lang="en-US" sz="2800" b="1" dirty="0">
                <a:solidFill>
                  <a:srgbClr val="F5A623"/>
                </a:solidFill>
                <a:latin typeface="Cambria" pitchFamily="34" charset="0"/>
                <a:ea typeface="Cambria" pitchFamily="34" charset="-122"/>
                <a:cs typeface="Cambria" pitchFamily="34" charset="-120"/>
              </a:rPr>
              <a:t>Agents own the trade-offs.</a:t>
            </a:r>
            <a:endParaRPr lang="en-US" sz="2800" dirty="0"/>
          </a:p>
          <a:p>
            <a:pPr indent="0" marL="0">
              <a:buNone/>
            </a:pPr>
            <a:r>
              <a:rPr lang="en-US" sz="2800" b="1" dirty="0">
                <a:solidFill>
                  <a:srgbClr val="F5A623"/>
                </a:solidFill>
                <a:latin typeface="Cambria" pitchFamily="34" charset="0"/>
                <a:ea typeface="Cambria" pitchFamily="34" charset="-122"/>
                <a:cs typeface="Cambria" pitchFamily="34" charset="-120"/>
              </a:rPr>
              <a:t>Humans decide.</a:t>
            </a:r>
            <a:endParaRPr lang="en-US" sz="2800" dirty="0"/>
          </a:p>
        </p:txBody>
      </p:sp>
      <p:sp>
        <p:nvSpPr>
          <p:cNvPr id="10" name="Text 8"/>
          <p:cNvSpPr/>
          <p:nvPr/>
        </p:nvSpPr>
        <p:spPr>
          <a:xfrm>
            <a:off x="548640" y="4572000"/>
            <a:ext cx="8046720" cy="274320"/>
          </a:xfrm>
          <a:prstGeom prst="rect">
            <a:avLst/>
          </a:prstGeom>
          <a:noFill/>
          <a:ln/>
        </p:spPr>
        <p:txBody>
          <a:bodyPr wrap="square" lIns="0" tIns="0" rIns="0" bIns="0" rtlCol="0" anchor="ctr"/>
          <a:lstStyle/>
          <a:p>
            <a:pPr indent="0" marL="0">
              <a:buNone/>
            </a:pPr>
            <a:r>
              <a:rPr lang="en-US" sz="1400" dirty="0">
                <a:solidFill>
                  <a:srgbClr val="C9D3DF"/>
                </a:solidFill>
                <a:latin typeface="Calibri" pitchFamily="34" charset="0"/>
                <a:ea typeface="Calibri" pitchFamily="34" charset="-122"/>
                <a:cs typeface="Calibri" pitchFamily="34" charset="-120"/>
              </a:rPr>
              <a:t>Autonomous Prime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Prime: three agents, one safe plan</dc:title>
  <dc:subject>PptxGenJS Presentation</dc:subject>
  <dc:creator>Autonomous Prime</dc:creator>
  <cp:lastModifiedBy>Autonomous Prime</cp:lastModifiedBy>
  <cp:revision>1</cp:revision>
  <dcterms:created xsi:type="dcterms:W3CDTF">2026-10-31T08:39:17Z</dcterms:created>
  <dcterms:modified xsi:type="dcterms:W3CDTF">2026-10-31T08:39:17Z</dcterms:modified>
</cp:coreProperties>
</file>