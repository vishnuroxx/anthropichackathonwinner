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a storm closes half the arrival slots at a hub. Today the duty manager phones ATC, the flight deck and the gate team one by one. We replaced the phone tree with three separate agents that must agree on a safe plan in at most three rounds, with code checking every proposal. Team intro: [team name, members]. Aim for 15 seconds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the duty manager at a hub. When weather hits, coordination is phone calls between ATC, the flight deck and the ground team. That cascades into delays, holding and fuel burn. Southwest, December 2022: more than 15,000 cancellations, crews on hold for 5+ hours, and a $140M DOT fine. Delay is expensive: about $98 per block-minute (Airlines for America, 2025). Verify these figures against your sources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An event (weather or a late aircraft) becomes a world state built by code. ATC, Pilot and Ground analyse in parallel as three separate calls, each seeing only its own facts. The middleman is plain code, not an LLM. It runs at most three rounds and sends every proposal through the constraint checker, so invalid plans are never shown to the other agents. All three accept the same plan: consensus. Otherwise the middleman halts and applies the least-cost valid plan from a deterministic non-AI fallback solver. A document crafter writes the explanation from the structured log only, and the human duty manager approves or rejects.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roles, three separate prompts, one call per agent per round. Nobody combines roles. ATC owns the arrival slot and sequence. Ground owns the gate, turnaround and crew, A-CDM style. Pilot owns holding, extra fuel and diversion, and only the Pilot can divert. The limits come from the organisers' operational-constraints workbook, and the checker enforces them in code: 30-minute final reserve, 45-minute turnaround, 20-minute gate-change notice, 8-hour crew shift, and wake separation.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what is real. Real: the DOT 2015 flight schedule, tail numbers, delay causes and airports. Derived: fuel margins, computed from rules. Synthetic and labelled in the output: gates, crew shifts and connecting passengers. The key honesty point: agents never see outcome columns such as actual departure, arrival or delay, so there is no hindsight. Those are only used in evaluation as a historical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real negotiation from the repo log (logs/mediator-DFW-20150424-MQ3086.jsonl). Round 1: proposals. 30 plans came in, 24 unique, and the checker passed only 8. Gate A12 was busy and several plans broke the fuel rule (fuel margin -26.7 min); those were blocked before any other agent saw them. Round 2: the agents score the shortlist and the middleman picks C2. Round 3: ATC, Pilot and Ground all accept: consensus in round 3. Final plan: land 21:09, 105 min ground delay, gate B20, no holding, no diversion, about $11,915 total system cost. CAUTION: this log was produced by a dry run (python -m mediator.run without --live), so the agents' scores came from the lane stubs, not live Claude calls. Re-run with --live before pitching, and re-read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evaluation. The fallback solver is also our baseline. Numbers in [__] are placeholders: no batch evaluation output exists in the repo yet, so fill them from the eval run (about 30 rows, mix of weather and late-aircraft) and do not quote numbers we have not measured. Constraint violations: the checker blocks every invalid plan, and in the DFW demo 16 of 24 unique proposals were blocked and none selected; confirm 0 across the whole batch. Include one real failure (no consensus and halt, or agents costlier than fallback) and say why it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limits. One focal flight per scenario; multiple pilot agents are next. Gates and crew are synthetic and labelled. In production the inputs come from live feeds, FAA SWIM and A-CDM, instead of seeded data. Close with the line on the slide: code owns the protocol and safety, agents own the trade-offs, humans decide. Then stop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3" name="Text 0"/>
          <p:cNvSpPr txBox="1"/>
          <p:nvPr/>
        </p:nvSpPr>
        <p:spPr>
          <a:xfrm>
            <a:off x="731520" y="1463040"/>
            <a:ext cx="10698480" cy="2743200"/>
          </a:xfrm>
          <a:prstGeom prst="rect">
            <a:avLst/>
          </a:prstGeom>
          <a:noFill/>
          <a:ln/>
        </p:spPr>
        <p:txBody>
          <a:bodyPr wrap="square" lIns="0" tIns="0" rIns="0" bIns="0" rtlCol="0" anchor="ctr"/>
          <a:lstStyle/>
          <a:p>
            <a:pPr indent="0" marL="0">
              <a:buNone/>
            </a:pPr>
            <a:r>
              <a:rPr lang="en-US" sz="5400" b="1" dirty="0">
                <a:solidFill>
                  <a:srgbClr val="F4F6FA"/>
                </a:solidFill>
                <a:latin typeface="Calibri" pitchFamily="34" charset="0"/>
                <a:ea typeface="Calibri" pitchFamily="34" charset="-122"/>
                <a:cs typeface="Calibri" pitchFamily="34" charset="-120"/>
              </a:rPr>
              <a:t>When weather hits, three agents agree on a safe plan in under 3 rounds</a:t>
            </a:r>
            <a:endParaRPr lang="en-US" sz="5400" dirty="0"/>
          </a:p>
        </p:txBody>
      </p:sp>
      <p:sp>
        <p:nvSpPr>
          <p:cNvPr id="4" name="Text 1"/>
          <p:cNvSpPr txBox="1"/>
          <p:nvPr/>
        </p:nvSpPr>
        <p:spPr>
          <a:xfrm>
            <a:off x="731520" y="4389120"/>
            <a:ext cx="10698480" cy="548640"/>
          </a:xfrm>
          <a:prstGeom prst="rect">
            <a:avLst/>
          </a:prstGeom>
          <a:noFill/>
          <a:ln/>
        </p:spPr>
        <p:txBody>
          <a:bodyPr wrap="square" lIns="0" tIns="0" rIns="0" bIns="0" rtlCol="0" anchor="ctr"/>
          <a:lstStyle/>
          <a:p>
            <a:pPr indent="0" marL="0">
              <a:buNone/>
            </a:pPr>
            <a:r>
              <a:rPr lang="en-US" sz="2800" dirty="0">
                <a:solidFill>
                  <a:srgbClr val="F2A93B"/>
                </a:solidFill>
                <a:latin typeface="Calibri" pitchFamily="34" charset="0"/>
                <a:ea typeface="Calibri" pitchFamily="34" charset="-122"/>
                <a:cs typeface="Calibri" pitchFamily="34" charset="-120"/>
              </a:rPr>
              <a:t>Airbus Challenge #2 · Multi-agent disruption negotiation</a:t>
            </a:r>
            <a:endParaRPr lang="en-US" sz="2800" dirty="0"/>
          </a:p>
        </p:txBody>
      </p:sp>
      <p:sp>
        <p:nvSpPr>
          <p:cNvPr id="5" name="Text 2"/>
          <p:cNvSpPr txBox="1"/>
          <p:nvPr/>
        </p:nvSpPr>
        <p:spPr>
          <a:xfrm>
            <a:off x="731520" y="5120640"/>
            <a:ext cx="10698480" cy="548640"/>
          </a:xfrm>
          <a:prstGeom prst="rect">
            <a:avLst/>
          </a:prstGeom>
          <a:noFill/>
          <a:ln/>
        </p:spPr>
        <p:txBody>
          <a:bodyPr wrap="square" lIns="0" tIns="0" rIns="0" bIns="0" rtlCol="0" anchor="ctr"/>
          <a:lstStyle/>
          <a:p>
            <a:pPr indent="0" marL="0">
              <a:buNone/>
            </a:pPr>
            <a:r>
              <a:rPr lang="en-US" sz="2800" dirty="0">
                <a:solidFill>
                  <a:srgbClr val="B4C0D2"/>
                </a:solidFill>
                <a:latin typeface="Calibri" pitchFamily="34" charset="0"/>
                <a:ea typeface="Calibri" pitchFamily="34" charset="-122"/>
                <a:cs typeface="Calibri" pitchFamily="34" charset="-120"/>
              </a:rPr>
              <a:t>[Team name]</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Today, coordination is phone calls</a:t>
            </a:r>
            <a:endParaRPr lang="en-US" sz="4000" dirty="0"/>
          </a:p>
        </p:txBody>
      </p:sp>
      <p:sp>
        <p:nvSpPr>
          <p:cNvPr id="4" name="Shape 1"/>
          <p:cNvSpPr/>
          <p:nvPr/>
        </p:nvSpPr>
        <p:spPr>
          <a:xfrm>
            <a:off x="548640" y="1645920"/>
            <a:ext cx="5394960" cy="1737360"/>
          </a:xfrm>
          <a:prstGeom prst="roundRect">
            <a:avLst>
              <a:gd name="adj" fmla="val 5263"/>
            </a:avLst>
          </a:prstGeom>
          <a:solidFill>
            <a:srgbClr val="1B2B45"/>
          </a:solidFill>
          <a:ln w="12700">
            <a:solidFill>
              <a:srgbClr val="1B2B45"/>
            </a:solidFill>
            <a:prstDash val="solid"/>
          </a:ln>
        </p:spPr>
      </p:sp>
      <p:sp>
        <p:nvSpPr>
          <p:cNvPr id="5" name="Text 2"/>
          <p:cNvSpPr txBox="1"/>
          <p:nvPr/>
        </p:nvSpPr>
        <p:spPr>
          <a:xfrm>
            <a:off x="822960" y="1737360"/>
            <a:ext cx="4846320" cy="914400"/>
          </a:xfrm>
          <a:prstGeom prst="rect">
            <a:avLst/>
          </a:prstGeom>
          <a:noFill/>
          <a:ln/>
        </p:spPr>
        <p:txBody>
          <a:bodyPr wrap="square" lIns="0" tIns="0" rIns="0" bIns="0" rtlCol="0" anchor="ctr"/>
          <a:lstStyle/>
          <a:p>
            <a:pPr indent="0" marL="0">
              <a:buNone/>
            </a:pPr>
            <a:r>
              <a:rPr lang="en-US" sz="5400" b="1" dirty="0">
                <a:solidFill>
                  <a:srgbClr val="F2A93B"/>
                </a:solidFill>
                <a:latin typeface="Calibri" pitchFamily="34" charset="0"/>
                <a:ea typeface="Calibri" pitchFamily="34" charset="-122"/>
                <a:cs typeface="Calibri" pitchFamily="34" charset="-120"/>
              </a:rPr>
              <a:t>15,000+</a:t>
            </a:r>
            <a:endParaRPr lang="en-US" sz="5400" dirty="0"/>
          </a:p>
        </p:txBody>
      </p:sp>
      <p:sp>
        <p:nvSpPr>
          <p:cNvPr id="6" name="Text 3"/>
          <p:cNvSpPr txBox="1"/>
          <p:nvPr/>
        </p:nvSpPr>
        <p:spPr>
          <a:xfrm>
            <a:off x="822960" y="2651760"/>
            <a:ext cx="4846320" cy="640080"/>
          </a:xfrm>
          <a:prstGeom prst="rect">
            <a:avLst/>
          </a:prstGeom>
          <a:noFill/>
          <a:ln/>
        </p:spPr>
        <p:txBody>
          <a:bodyPr wrap="square" lIns="0" tIns="0" rIns="0" bIns="0" rtlCol="0" anchor="t"/>
          <a:lstStyle/>
          <a:p>
            <a:pPr indent="0" marL="0">
              <a:buNone/>
            </a:pPr>
            <a:r>
              <a:rPr lang="en-US" sz="2400" dirty="0">
                <a:solidFill>
                  <a:srgbClr val="F4F6FA"/>
                </a:solidFill>
                <a:latin typeface="Calibri" pitchFamily="34" charset="0"/>
                <a:ea typeface="Calibri" pitchFamily="34" charset="-122"/>
                <a:cs typeface="Calibri" pitchFamily="34" charset="-120"/>
              </a:rPr>
              <a:t>cancellations, Southwest Dec 2022</a:t>
            </a:r>
            <a:endParaRPr lang="en-US" sz="2400" dirty="0"/>
          </a:p>
        </p:txBody>
      </p:sp>
      <p:sp>
        <p:nvSpPr>
          <p:cNvPr id="7" name="Shape 4"/>
          <p:cNvSpPr/>
          <p:nvPr/>
        </p:nvSpPr>
        <p:spPr>
          <a:xfrm>
            <a:off x="6217920" y="1645920"/>
            <a:ext cx="5394960" cy="1737360"/>
          </a:xfrm>
          <a:prstGeom prst="roundRect">
            <a:avLst>
              <a:gd name="adj" fmla="val 5263"/>
            </a:avLst>
          </a:prstGeom>
          <a:solidFill>
            <a:srgbClr val="1B2B45"/>
          </a:solidFill>
          <a:ln w="12700">
            <a:solidFill>
              <a:srgbClr val="1B2B45"/>
            </a:solidFill>
            <a:prstDash val="solid"/>
          </a:ln>
        </p:spPr>
      </p:sp>
      <p:sp>
        <p:nvSpPr>
          <p:cNvPr id="8" name="Text 5"/>
          <p:cNvSpPr txBox="1"/>
          <p:nvPr/>
        </p:nvSpPr>
        <p:spPr>
          <a:xfrm>
            <a:off x="6492240" y="1737360"/>
            <a:ext cx="4846320" cy="914400"/>
          </a:xfrm>
          <a:prstGeom prst="rect">
            <a:avLst/>
          </a:prstGeom>
          <a:noFill/>
          <a:ln/>
        </p:spPr>
        <p:txBody>
          <a:bodyPr wrap="square" lIns="0" tIns="0" rIns="0" bIns="0" rtlCol="0" anchor="ctr"/>
          <a:lstStyle/>
          <a:p>
            <a:pPr indent="0" marL="0">
              <a:buNone/>
            </a:pPr>
            <a:r>
              <a:rPr lang="en-US" sz="5400" b="1" dirty="0">
                <a:solidFill>
                  <a:srgbClr val="F2A93B"/>
                </a:solidFill>
                <a:latin typeface="Calibri" pitchFamily="34" charset="0"/>
                <a:ea typeface="Calibri" pitchFamily="34" charset="-122"/>
                <a:cs typeface="Calibri" pitchFamily="34" charset="-120"/>
              </a:rPr>
              <a:t>5+ h</a:t>
            </a:r>
            <a:endParaRPr lang="en-US" sz="5400" dirty="0"/>
          </a:p>
        </p:txBody>
      </p:sp>
      <p:sp>
        <p:nvSpPr>
          <p:cNvPr id="9" name="Text 6"/>
          <p:cNvSpPr txBox="1"/>
          <p:nvPr/>
        </p:nvSpPr>
        <p:spPr>
          <a:xfrm>
            <a:off x="6492240" y="2651760"/>
            <a:ext cx="4846320" cy="640080"/>
          </a:xfrm>
          <a:prstGeom prst="rect">
            <a:avLst/>
          </a:prstGeom>
          <a:noFill/>
          <a:ln/>
        </p:spPr>
        <p:txBody>
          <a:bodyPr wrap="square" lIns="0" tIns="0" rIns="0" bIns="0" rtlCol="0" anchor="t"/>
          <a:lstStyle/>
          <a:p>
            <a:pPr indent="0" marL="0">
              <a:buNone/>
            </a:pPr>
            <a:r>
              <a:rPr lang="en-US" sz="2400" dirty="0">
                <a:solidFill>
                  <a:srgbClr val="F4F6FA"/>
                </a:solidFill>
                <a:latin typeface="Calibri" pitchFamily="34" charset="0"/>
                <a:ea typeface="Calibri" pitchFamily="34" charset="-122"/>
                <a:cs typeface="Calibri" pitchFamily="34" charset="-120"/>
              </a:rPr>
              <a:t>crews stuck on hold</a:t>
            </a:r>
            <a:endParaRPr lang="en-US" sz="2400" dirty="0"/>
          </a:p>
        </p:txBody>
      </p:sp>
      <p:sp>
        <p:nvSpPr>
          <p:cNvPr id="10" name="Shape 7"/>
          <p:cNvSpPr/>
          <p:nvPr/>
        </p:nvSpPr>
        <p:spPr>
          <a:xfrm>
            <a:off x="548640" y="3566160"/>
            <a:ext cx="5394960" cy="1737360"/>
          </a:xfrm>
          <a:prstGeom prst="roundRect">
            <a:avLst>
              <a:gd name="adj" fmla="val 5263"/>
            </a:avLst>
          </a:prstGeom>
          <a:solidFill>
            <a:srgbClr val="1B2B45"/>
          </a:solidFill>
          <a:ln w="12700">
            <a:solidFill>
              <a:srgbClr val="1B2B45"/>
            </a:solidFill>
            <a:prstDash val="solid"/>
          </a:ln>
        </p:spPr>
      </p:sp>
      <p:sp>
        <p:nvSpPr>
          <p:cNvPr id="11" name="Text 8"/>
          <p:cNvSpPr txBox="1"/>
          <p:nvPr/>
        </p:nvSpPr>
        <p:spPr>
          <a:xfrm>
            <a:off x="822960" y="3657600"/>
            <a:ext cx="4846320" cy="914400"/>
          </a:xfrm>
          <a:prstGeom prst="rect">
            <a:avLst/>
          </a:prstGeom>
          <a:noFill/>
          <a:ln/>
        </p:spPr>
        <p:txBody>
          <a:bodyPr wrap="square" lIns="0" tIns="0" rIns="0" bIns="0" rtlCol="0" anchor="ctr"/>
          <a:lstStyle/>
          <a:p>
            <a:pPr indent="0" marL="0">
              <a:buNone/>
            </a:pPr>
            <a:r>
              <a:rPr lang="en-US" sz="5400" b="1" dirty="0">
                <a:solidFill>
                  <a:srgbClr val="F2A93B"/>
                </a:solidFill>
                <a:latin typeface="Calibri" pitchFamily="34" charset="0"/>
                <a:ea typeface="Calibri" pitchFamily="34" charset="-122"/>
                <a:cs typeface="Calibri" pitchFamily="34" charset="-120"/>
              </a:rPr>
              <a:t>$140M</a:t>
            </a:r>
            <a:endParaRPr lang="en-US" sz="5400" dirty="0"/>
          </a:p>
        </p:txBody>
      </p:sp>
      <p:sp>
        <p:nvSpPr>
          <p:cNvPr id="12" name="Text 9"/>
          <p:cNvSpPr txBox="1"/>
          <p:nvPr/>
        </p:nvSpPr>
        <p:spPr>
          <a:xfrm>
            <a:off x="822960" y="4572000"/>
            <a:ext cx="4846320" cy="640080"/>
          </a:xfrm>
          <a:prstGeom prst="rect">
            <a:avLst/>
          </a:prstGeom>
          <a:noFill/>
          <a:ln/>
        </p:spPr>
        <p:txBody>
          <a:bodyPr wrap="square" lIns="0" tIns="0" rIns="0" bIns="0" rtlCol="0" anchor="t"/>
          <a:lstStyle/>
          <a:p>
            <a:pPr indent="0" marL="0">
              <a:buNone/>
            </a:pPr>
            <a:r>
              <a:rPr lang="en-US" sz="2400" dirty="0">
                <a:solidFill>
                  <a:srgbClr val="F4F6FA"/>
                </a:solidFill>
                <a:latin typeface="Calibri" pitchFamily="34" charset="0"/>
                <a:ea typeface="Calibri" pitchFamily="34" charset="-122"/>
                <a:cs typeface="Calibri" pitchFamily="34" charset="-120"/>
              </a:rPr>
              <a:t>DOT fine</a:t>
            </a:r>
            <a:endParaRPr lang="en-US" sz="2400" dirty="0"/>
          </a:p>
        </p:txBody>
      </p:sp>
      <p:sp>
        <p:nvSpPr>
          <p:cNvPr id="13" name="Shape 10"/>
          <p:cNvSpPr/>
          <p:nvPr/>
        </p:nvSpPr>
        <p:spPr>
          <a:xfrm>
            <a:off x="6217920" y="3566160"/>
            <a:ext cx="5394960" cy="1737360"/>
          </a:xfrm>
          <a:prstGeom prst="roundRect">
            <a:avLst>
              <a:gd name="adj" fmla="val 5263"/>
            </a:avLst>
          </a:prstGeom>
          <a:solidFill>
            <a:srgbClr val="1B2B45"/>
          </a:solidFill>
          <a:ln w="12700">
            <a:solidFill>
              <a:srgbClr val="1B2B45"/>
            </a:solidFill>
            <a:prstDash val="solid"/>
          </a:ln>
        </p:spPr>
      </p:sp>
      <p:sp>
        <p:nvSpPr>
          <p:cNvPr id="14" name="Text 11"/>
          <p:cNvSpPr txBox="1"/>
          <p:nvPr/>
        </p:nvSpPr>
        <p:spPr>
          <a:xfrm>
            <a:off x="6492240" y="3657600"/>
            <a:ext cx="4846320" cy="914400"/>
          </a:xfrm>
          <a:prstGeom prst="rect">
            <a:avLst/>
          </a:prstGeom>
          <a:noFill/>
          <a:ln/>
        </p:spPr>
        <p:txBody>
          <a:bodyPr wrap="square" lIns="0" tIns="0" rIns="0" bIns="0" rtlCol="0" anchor="ctr"/>
          <a:lstStyle/>
          <a:p>
            <a:pPr indent="0" marL="0">
              <a:buNone/>
            </a:pPr>
            <a:r>
              <a:rPr lang="en-US" sz="5400" b="1" dirty="0">
                <a:solidFill>
                  <a:srgbClr val="F2A93B"/>
                </a:solidFill>
                <a:latin typeface="Calibri" pitchFamily="34" charset="0"/>
                <a:ea typeface="Calibri" pitchFamily="34" charset="-122"/>
                <a:cs typeface="Calibri" pitchFamily="34" charset="-120"/>
              </a:rPr>
              <a:t>≈ $98</a:t>
            </a:r>
            <a:endParaRPr lang="en-US" sz="5400" dirty="0"/>
          </a:p>
        </p:txBody>
      </p:sp>
      <p:sp>
        <p:nvSpPr>
          <p:cNvPr id="15" name="Text 12"/>
          <p:cNvSpPr txBox="1"/>
          <p:nvPr/>
        </p:nvSpPr>
        <p:spPr>
          <a:xfrm>
            <a:off x="6492240" y="4572000"/>
            <a:ext cx="4846320" cy="640080"/>
          </a:xfrm>
          <a:prstGeom prst="rect">
            <a:avLst/>
          </a:prstGeom>
          <a:noFill/>
          <a:ln/>
        </p:spPr>
        <p:txBody>
          <a:bodyPr wrap="square" lIns="0" tIns="0" rIns="0" bIns="0" rtlCol="0" anchor="t"/>
          <a:lstStyle/>
          <a:p>
            <a:pPr indent="0" marL="0">
              <a:buNone/>
            </a:pPr>
            <a:r>
              <a:rPr lang="en-US" sz="2400" dirty="0">
                <a:solidFill>
                  <a:srgbClr val="F4F6FA"/>
                </a:solidFill>
                <a:latin typeface="Calibri" pitchFamily="34" charset="0"/>
                <a:ea typeface="Calibri" pitchFamily="34" charset="-122"/>
                <a:cs typeface="Calibri" pitchFamily="34" charset="-120"/>
              </a:rPr>
              <a:t>per block-minute (A4A 2025)</a:t>
            </a:r>
            <a:endParaRPr lang="en-US" sz="2400" dirty="0"/>
          </a:p>
        </p:txBody>
      </p:sp>
      <p:sp>
        <p:nvSpPr>
          <p:cNvPr id="16" name="Text 13"/>
          <p:cNvSpPr txBox="1"/>
          <p:nvPr/>
        </p:nvSpPr>
        <p:spPr>
          <a:xfrm>
            <a:off x="548640" y="5577840"/>
            <a:ext cx="11064240" cy="731520"/>
          </a:xfrm>
          <a:prstGeom prst="rect">
            <a:avLst/>
          </a:prstGeom>
          <a:noFill/>
          <a:ln/>
        </p:spPr>
        <p:txBody>
          <a:bodyPr wrap="square" lIns="0" tIns="0" rIns="0" bIns="0" rtlCol="0" anchor="ctr"/>
          <a:lstStyle/>
          <a:p>
            <a:pPr indent="0" marL="0">
              <a:buNone/>
            </a:pPr>
            <a:r>
              <a:rPr lang="en-US" sz="3000" b="1" dirty="0">
                <a:solidFill>
                  <a:srgbClr val="F4F6FA"/>
                </a:solidFill>
                <a:latin typeface="Calibri" pitchFamily="34" charset="0"/>
                <a:ea typeface="Calibri" pitchFamily="34" charset="-122"/>
                <a:cs typeface="Calibri" pitchFamily="34" charset="-120"/>
              </a:rPr>
              <a:t>Phone calls → cascading delays, holding, fuel burn</a:t>
            </a:r>
            <a:endParaRPr lang="en-US" sz="3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Code owns the protocol, agents negotiate</a:t>
            </a:r>
            <a:endParaRPr lang="en-US" sz="4000" dirty="0"/>
          </a:p>
        </p:txBody>
      </p:sp>
      <p:sp>
        <p:nvSpPr>
          <p:cNvPr id="4" name="Shape 1"/>
          <p:cNvSpPr/>
          <p:nvPr/>
        </p:nvSpPr>
        <p:spPr>
          <a:xfrm>
            <a:off x="548640" y="1645920"/>
            <a:ext cx="3383280" cy="1554480"/>
          </a:xfrm>
          <a:prstGeom prst="roundRect">
            <a:avLst>
              <a:gd name="adj" fmla="val 5882"/>
            </a:avLst>
          </a:prstGeom>
          <a:solidFill>
            <a:srgbClr val="1B2B45"/>
          </a:solidFill>
          <a:ln w="12700">
            <a:solidFill>
              <a:srgbClr val="1B2B45"/>
            </a:solidFill>
            <a:prstDash val="solid"/>
          </a:ln>
        </p:spPr>
      </p:sp>
      <p:sp>
        <p:nvSpPr>
          <p:cNvPr id="5" name="Text 2"/>
          <p:cNvSpPr txBox="1"/>
          <p:nvPr/>
        </p:nvSpPr>
        <p:spPr>
          <a:xfrm>
            <a:off x="548640" y="1645920"/>
            <a:ext cx="338328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Event</a:t>
            </a:r>
            <a:endParaRPr lang="en-US" sz="2400" dirty="0"/>
          </a:p>
          <a:p>
            <a:pPr algn="ctr" indent="0" marL="0">
              <a:buNone/>
            </a:pPr>
            <a:r>
              <a:rPr lang="en-US" sz="2400" dirty="0">
                <a:solidFill>
                  <a:srgbClr val="F4F6FA"/>
                </a:solidFill>
                <a:latin typeface="Calibri" pitchFamily="34" charset="0"/>
                <a:ea typeface="Calibri" pitchFamily="34" charset="-122"/>
                <a:cs typeface="Calibri" pitchFamily="34" charset="-120"/>
              </a:rPr>
              <a:t>weather / late aircraft</a:t>
            </a:r>
            <a:endParaRPr lang="en-US" sz="2400" dirty="0"/>
          </a:p>
        </p:txBody>
      </p:sp>
      <p:sp>
        <p:nvSpPr>
          <p:cNvPr id="6" name="Shape 3"/>
          <p:cNvSpPr/>
          <p:nvPr/>
        </p:nvSpPr>
        <p:spPr>
          <a:xfrm>
            <a:off x="4389120" y="1645920"/>
            <a:ext cx="3383280" cy="1554480"/>
          </a:xfrm>
          <a:prstGeom prst="roundRect">
            <a:avLst>
              <a:gd name="adj" fmla="val 5882"/>
            </a:avLst>
          </a:prstGeom>
          <a:solidFill>
            <a:srgbClr val="1B2B45"/>
          </a:solidFill>
          <a:ln w="12700">
            <a:solidFill>
              <a:srgbClr val="1B2B45"/>
            </a:solidFill>
            <a:prstDash val="solid"/>
          </a:ln>
        </p:spPr>
      </p:sp>
      <p:sp>
        <p:nvSpPr>
          <p:cNvPr id="7" name="Text 4"/>
          <p:cNvSpPr txBox="1"/>
          <p:nvPr/>
        </p:nvSpPr>
        <p:spPr>
          <a:xfrm>
            <a:off x="4389120" y="1645920"/>
            <a:ext cx="338328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Parallel analysis</a:t>
            </a:r>
            <a:endParaRPr lang="en-US" sz="2400" dirty="0"/>
          </a:p>
          <a:p>
            <a:pPr algn="ctr" indent="0" marL="0">
              <a:buNone/>
            </a:pPr>
            <a:r>
              <a:rPr lang="en-US" sz="2400" dirty="0">
                <a:solidFill>
                  <a:srgbClr val="F4F6FA"/>
                </a:solidFill>
                <a:latin typeface="Calibri" pitchFamily="34" charset="0"/>
                <a:ea typeface="Calibri" pitchFamily="34" charset="-122"/>
                <a:cs typeface="Calibri" pitchFamily="34" charset="-120"/>
              </a:rPr>
              <a:t>ATC · Pilot · Ground</a:t>
            </a:r>
            <a:endParaRPr lang="en-US" sz="2400" dirty="0"/>
          </a:p>
        </p:txBody>
      </p:sp>
      <p:sp>
        <p:nvSpPr>
          <p:cNvPr id="8" name="Shape 5"/>
          <p:cNvSpPr/>
          <p:nvPr/>
        </p:nvSpPr>
        <p:spPr>
          <a:xfrm>
            <a:off x="8229600" y="1645920"/>
            <a:ext cx="3383280" cy="1554480"/>
          </a:xfrm>
          <a:prstGeom prst="roundRect">
            <a:avLst>
              <a:gd name="adj" fmla="val 5882"/>
            </a:avLst>
          </a:prstGeom>
          <a:solidFill>
            <a:srgbClr val="1B2B45"/>
          </a:solidFill>
          <a:ln w="25400">
            <a:solidFill>
              <a:srgbClr val="F2A93B"/>
            </a:solidFill>
            <a:prstDash val="solid"/>
          </a:ln>
        </p:spPr>
      </p:sp>
      <p:sp>
        <p:nvSpPr>
          <p:cNvPr id="9" name="Text 6"/>
          <p:cNvSpPr txBox="1"/>
          <p:nvPr/>
        </p:nvSpPr>
        <p:spPr>
          <a:xfrm>
            <a:off x="8229600" y="1645920"/>
            <a:ext cx="338328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Middleman (code)</a:t>
            </a:r>
            <a:endParaRPr lang="en-US" sz="2400" dirty="0"/>
          </a:p>
          <a:p>
            <a:pPr algn="ctr" indent="0" marL="0">
              <a:buNone/>
            </a:pPr>
            <a:r>
              <a:rPr lang="en-US" sz="2400" dirty="0">
                <a:solidFill>
                  <a:srgbClr val="F4F6FA"/>
                </a:solidFill>
                <a:latin typeface="Calibri" pitchFamily="34" charset="0"/>
                <a:ea typeface="Calibri" pitchFamily="34" charset="-122"/>
                <a:cs typeface="Calibri" pitchFamily="34" charset="-120"/>
              </a:rPr>
              <a:t>≤ 3 rounds + checker on every proposal</a:t>
            </a:r>
            <a:endParaRPr lang="en-US" sz="2400" dirty="0"/>
          </a:p>
        </p:txBody>
      </p:sp>
      <p:sp>
        <p:nvSpPr>
          <p:cNvPr id="10" name="Shape 7"/>
          <p:cNvSpPr/>
          <p:nvPr/>
        </p:nvSpPr>
        <p:spPr>
          <a:xfrm>
            <a:off x="3931920" y="2423160"/>
            <a:ext cx="457200" cy="0"/>
          </a:xfrm>
          <a:prstGeom prst="line">
            <a:avLst/>
          </a:prstGeom>
          <a:noFill/>
          <a:ln w="38100">
            <a:solidFill>
              <a:srgbClr val="F2A93B"/>
            </a:solidFill>
            <a:prstDash val="solid"/>
            <a:tailEnd type="triangle"/>
          </a:ln>
        </p:spPr>
      </p:sp>
      <p:sp>
        <p:nvSpPr>
          <p:cNvPr id="11" name="Shape 8"/>
          <p:cNvSpPr/>
          <p:nvPr/>
        </p:nvSpPr>
        <p:spPr>
          <a:xfrm>
            <a:off x="7772400" y="2423160"/>
            <a:ext cx="457200" cy="0"/>
          </a:xfrm>
          <a:prstGeom prst="line">
            <a:avLst/>
          </a:prstGeom>
          <a:noFill/>
          <a:ln w="38100">
            <a:solidFill>
              <a:srgbClr val="F2A93B"/>
            </a:solidFill>
            <a:prstDash val="solid"/>
            <a:tailEnd type="triangle"/>
          </a:ln>
        </p:spPr>
      </p:sp>
      <p:sp>
        <p:nvSpPr>
          <p:cNvPr id="12" name="Shape 9"/>
          <p:cNvSpPr/>
          <p:nvPr/>
        </p:nvSpPr>
        <p:spPr>
          <a:xfrm>
            <a:off x="548640" y="4206240"/>
            <a:ext cx="2606040" cy="1554480"/>
          </a:xfrm>
          <a:prstGeom prst="roundRect">
            <a:avLst>
              <a:gd name="adj" fmla="val 5882"/>
            </a:avLst>
          </a:prstGeom>
          <a:solidFill>
            <a:srgbClr val="1F4D3A"/>
          </a:solidFill>
          <a:ln w="12700">
            <a:solidFill>
              <a:srgbClr val="1F4D3A"/>
            </a:solidFill>
            <a:prstDash val="solid"/>
          </a:ln>
        </p:spPr>
      </p:sp>
      <p:sp>
        <p:nvSpPr>
          <p:cNvPr id="13" name="Text 10"/>
          <p:cNvSpPr txBox="1"/>
          <p:nvPr/>
        </p:nvSpPr>
        <p:spPr>
          <a:xfrm>
            <a:off x="548640" y="4206240"/>
            <a:ext cx="260604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Consensus ✓</a:t>
            </a:r>
            <a:endParaRPr lang="en-US" sz="2400" dirty="0"/>
          </a:p>
        </p:txBody>
      </p:sp>
      <p:sp>
        <p:nvSpPr>
          <p:cNvPr id="14" name="Shape 11"/>
          <p:cNvSpPr/>
          <p:nvPr/>
        </p:nvSpPr>
        <p:spPr>
          <a:xfrm>
            <a:off x="3337560" y="4206240"/>
            <a:ext cx="2606040" cy="1554480"/>
          </a:xfrm>
          <a:prstGeom prst="roundRect">
            <a:avLst>
              <a:gd name="adj" fmla="val 5882"/>
            </a:avLst>
          </a:prstGeom>
          <a:solidFill>
            <a:srgbClr val="5A3A1A"/>
          </a:solidFill>
          <a:ln w="12700">
            <a:solidFill>
              <a:srgbClr val="5A3A1A"/>
            </a:solidFill>
            <a:prstDash val="solid"/>
          </a:ln>
        </p:spPr>
      </p:sp>
      <p:sp>
        <p:nvSpPr>
          <p:cNvPr id="15" name="Text 12"/>
          <p:cNvSpPr txBox="1"/>
          <p:nvPr/>
        </p:nvSpPr>
        <p:spPr>
          <a:xfrm>
            <a:off x="3337560" y="4206240"/>
            <a:ext cx="260604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Halt → least-cost non-AI fallback</a:t>
            </a:r>
            <a:endParaRPr lang="en-US" sz="2400" dirty="0"/>
          </a:p>
        </p:txBody>
      </p:sp>
      <p:sp>
        <p:nvSpPr>
          <p:cNvPr id="16" name="Shape 13"/>
          <p:cNvSpPr/>
          <p:nvPr/>
        </p:nvSpPr>
        <p:spPr>
          <a:xfrm>
            <a:off x="6309360" y="4206240"/>
            <a:ext cx="2606040" cy="1554480"/>
          </a:xfrm>
          <a:prstGeom prst="roundRect">
            <a:avLst>
              <a:gd name="adj" fmla="val 5882"/>
            </a:avLst>
          </a:prstGeom>
          <a:solidFill>
            <a:srgbClr val="1B2B45"/>
          </a:solidFill>
          <a:ln w="12700">
            <a:solidFill>
              <a:srgbClr val="1B2B45"/>
            </a:solidFill>
            <a:prstDash val="solid"/>
          </a:ln>
        </p:spPr>
      </p:sp>
      <p:sp>
        <p:nvSpPr>
          <p:cNvPr id="17" name="Text 14"/>
          <p:cNvSpPr txBox="1"/>
          <p:nvPr/>
        </p:nvSpPr>
        <p:spPr>
          <a:xfrm>
            <a:off x="6309360" y="4206240"/>
            <a:ext cx="260604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Document crafter</a:t>
            </a:r>
            <a:endParaRPr lang="en-US" sz="2400" dirty="0"/>
          </a:p>
        </p:txBody>
      </p:sp>
      <p:sp>
        <p:nvSpPr>
          <p:cNvPr id="18" name="Shape 15"/>
          <p:cNvSpPr/>
          <p:nvPr/>
        </p:nvSpPr>
        <p:spPr>
          <a:xfrm>
            <a:off x="9098280" y="4206240"/>
            <a:ext cx="2514600" cy="1554480"/>
          </a:xfrm>
          <a:prstGeom prst="roundRect">
            <a:avLst>
              <a:gd name="adj" fmla="val 5882"/>
            </a:avLst>
          </a:prstGeom>
          <a:solidFill>
            <a:srgbClr val="1B2B45"/>
          </a:solidFill>
          <a:ln w="25400">
            <a:solidFill>
              <a:srgbClr val="F2A93B"/>
            </a:solidFill>
            <a:prstDash val="solid"/>
          </a:ln>
        </p:spPr>
      </p:sp>
      <p:sp>
        <p:nvSpPr>
          <p:cNvPr id="19" name="Text 16"/>
          <p:cNvSpPr txBox="1"/>
          <p:nvPr/>
        </p:nvSpPr>
        <p:spPr>
          <a:xfrm>
            <a:off x="9098280" y="4206240"/>
            <a:ext cx="2514600" cy="155448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Human approves</a:t>
            </a:r>
            <a:endParaRPr lang="en-US" sz="2400" dirty="0"/>
          </a:p>
        </p:txBody>
      </p:sp>
      <p:sp>
        <p:nvSpPr>
          <p:cNvPr id="20" name="Shape 17"/>
          <p:cNvSpPr/>
          <p:nvPr/>
        </p:nvSpPr>
        <p:spPr>
          <a:xfrm flipH="1">
            <a:off x="1828800" y="3200400"/>
            <a:ext cx="8092440" cy="1005840"/>
          </a:xfrm>
          <a:prstGeom prst="line">
            <a:avLst/>
          </a:prstGeom>
          <a:noFill/>
          <a:ln w="38100">
            <a:solidFill>
              <a:srgbClr val="F2A93B"/>
            </a:solidFill>
            <a:prstDash val="solid"/>
            <a:tailEnd type="triangle"/>
          </a:ln>
        </p:spPr>
      </p:sp>
      <p:sp>
        <p:nvSpPr>
          <p:cNvPr id="21" name="Shape 18"/>
          <p:cNvSpPr/>
          <p:nvPr/>
        </p:nvSpPr>
        <p:spPr>
          <a:xfrm flipH="1">
            <a:off x="4663440" y="3200400"/>
            <a:ext cx="5257800" cy="1005840"/>
          </a:xfrm>
          <a:prstGeom prst="line">
            <a:avLst/>
          </a:prstGeom>
          <a:noFill/>
          <a:ln w="38100">
            <a:solidFill>
              <a:srgbClr val="F2A93B"/>
            </a:solidFill>
            <a:prstDash val="solid"/>
            <a:tailEnd type="triangle"/>
          </a:ln>
        </p:spPr>
      </p:sp>
      <p:sp>
        <p:nvSpPr>
          <p:cNvPr id="22" name="Shape 19"/>
          <p:cNvSpPr/>
          <p:nvPr/>
        </p:nvSpPr>
        <p:spPr>
          <a:xfrm>
            <a:off x="5943600" y="4983480"/>
            <a:ext cx="365760" cy="0"/>
          </a:xfrm>
          <a:prstGeom prst="line">
            <a:avLst/>
          </a:prstGeom>
          <a:noFill/>
          <a:ln w="38100">
            <a:solidFill>
              <a:srgbClr val="F2A93B"/>
            </a:solidFill>
            <a:prstDash val="solid"/>
            <a:tailEnd type="triangle"/>
          </a:ln>
        </p:spPr>
      </p:sp>
      <p:sp>
        <p:nvSpPr>
          <p:cNvPr id="23" name="Shape 20"/>
          <p:cNvSpPr/>
          <p:nvPr/>
        </p:nvSpPr>
        <p:spPr>
          <a:xfrm>
            <a:off x="8915400" y="4983480"/>
            <a:ext cx="182880" cy="0"/>
          </a:xfrm>
          <a:prstGeom prst="line">
            <a:avLst/>
          </a:prstGeom>
          <a:noFill/>
          <a:ln w="38100">
            <a:solidFill>
              <a:srgbClr val="F2A93B"/>
            </a:solidFill>
            <a:prstDash val="solid"/>
            <a:tailEnd type="triangle"/>
          </a:ln>
        </p:spPr>
      </p:sp>
      <p:sp>
        <p:nvSpPr>
          <p:cNvPr id="24" name="Text 21"/>
          <p:cNvSpPr txBox="1"/>
          <p:nvPr/>
        </p:nvSpPr>
        <p:spPr>
          <a:xfrm>
            <a:off x="548640" y="3337560"/>
            <a:ext cx="4114800" cy="457200"/>
          </a:xfrm>
          <a:prstGeom prst="rect">
            <a:avLst/>
          </a:prstGeom>
          <a:noFill/>
          <a:ln/>
        </p:spPr>
        <p:txBody>
          <a:bodyPr wrap="square" lIns="0" tIns="0" rIns="0" bIns="0" rtlCol="0" anchor="ctr"/>
          <a:lstStyle/>
          <a:p>
            <a:pPr indent="0" marL="0">
              <a:buNone/>
            </a:pPr>
            <a:r>
              <a:rPr lang="en-US" sz="2400" i="1" dirty="0">
                <a:solidFill>
                  <a:srgbClr val="F2A93B"/>
                </a:solidFill>
                <a:latin typeface="Calibri" pitchFamily="34" charset="0"/>
                <a:ea typeface="Calibri" pitchFamily="34" charset="-122"/>
                <a:cs typeface="Calibri" pitchFamily="34" charset="-120"/>
              </a:rPr>
              <a:t>consensus OR halt</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Each agent owns one decision</a:t>
            </a:r>
            <a:endParaRPr lang="en-US" sz="4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926080"/>
                <a:gridCol w="8138160"/>
              </a:tblGrid>
              <a:tr h="566928">
                <a:tc>
                  <a:txBody>
                    <a:bodyPr/>
                    <a:lstStyle/>
                    <a:p>
                      <a:pPr indent="0" marL="0">
                        <a:buNone/>
                      </a:pPr>
                      <a:r>
                        <a:rPr lang="en-US" sz="2400" b="1" dirty="0">
                          <a:solidFill>
                            <a:srgbClr val="0F1B2D"/>
                          </a:solidFill>
                          <a:latin typeface="Calibri" pitchFamily="34" charset="0"/>
                          <a:ea typeface="Calibri" pitchFamily="34" charset="-122"/>
                          <a:cs typeface="Calibri" pitchFamily="34" charset="-120"/>
                        </a:rPr>
                        <a:t>Agent</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F2A93B"/>
                    </a:solidFill>
                  </a:tcPr>
                </a:tc>
                <a:tc>
                  <a:txBody>
                    <a:bodyPr/>
                    <a:lstStyle/>
                    <a:p>
                      <a:pPr indent="0" marL="0">
                        <a:buNone/>
                      </a:pPr>
                      <a:r>
                        <a:rPr lang="en-US" sz="2400" b="1" dirty="0">
                          <a:solidFill>
                            <a:srgbClr val="0F1B2D"/>
                          </a:solidFill>
                          <a:latin typeface="Calibri" pitchFamily="34" charset="0"/>
                          <a:ea typeface="Calibri" pitchFamily="34" charset="-122"/>
                          <a:cs typeface="Calibri" pitchFamily="34" charset="-120"/>
                        </a:rPr>
                        <a:t>Owns</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F2A93B"/>
                    </a:solidFill>
                  </a:tcPr>
                </a:tc>
              </a:tr>
              <a:tr h="566928">
                <a:tc>
                  <a:txBody>
                    <a:bodyPr/>
                    <a:lstStyle/>
                    <a:p>
                      <a:pPr indent="0" marL="0">
                        <a:buNone/>
                      </a:pPr>
                      <a:r>
                        <a:rPr lang="en-US" sz="2400" b="1" dirty="0">
                          <a:solidFill>
                            <a:srgbClr val="F4F6FA"/>
                          </a:solidFill>
                          <a:latin typeface="Calibri" pitchFamily="34" charset="0"/>
                          <a:ea typeface="Calibri" pitchFamily="34" charset="-122"/>
                          <a:cs typeface="Calibri" pitchFamily="34" charset="-120"/>
                        </a:rPr>
                        <a:t>ATC</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c>
                  <a:txBody>
                    <a:bodyPr/>
                    <a:lstStyle/>
                    <a:p>
                      <a:pPr indent="0" marL="0">
                        <a:buNone/>
                      </a:pPr>
                      <a:r>
                        <a:rPr lang="en-US" sz="2400" dirty="0">
                          <a:solidFill>
                            <a:srgbClr val="F4F6FA"/>
                          </a:solidFill>
                          <a:latin typeface="Calibri" pitchFamily="34" charset="0"/>
                          <a:ea typeface="Calibri" pitchFamily="34" charset="-122"/>
                          <a:cs typeface="Calibri" pitchFamily="34" charset="-120"/>
                        </a:rPr>
                        <a:t>Arrival slot · sequence</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r>
              <a:tr h="566928">
                <a:tc>
                  <a:txBody>
                    <a:bodyPr/>
                    <a:lstStyle/>
                    <a:p>
                      <a:pPr indent="0" marL="0">
                        <a:buNone/>
                      </a:pPr>
                      <a:r>
                        <a:rPr lang="en-US" sz="2400" b="1" dirty="0">
                          <a:solidFill>
                            <a:srgbClr val="F4F6FA"/>
                          </a:solidFill>
                          <a:latin typeface="Calibri" pitchFamily="34" charset="0"/>
                          <a:ea typeface="Calibri" pitchFamily="34" charset="-122"/>
                          <a:cs typeface="Calibri" pitchFamily="34" charset="-120"/>
                        </a:rPr>
                        <a:t>Ground</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c>
                  <a:txBody>
                    <a:bodyPr/>
                    <a:lstStyle/>
                    <a:p>
                      <a:pPr indent="0" marL="0">
                        <a:buNone/>
                      </a:pPr>
                      <a:r>
                        <a:rPr lang="en-US" sz="2400" dirty="0">
                          <a:solidFill>
                            <a:srgbClr val="F4F6FA"/>
                          </a:solidFill>
                          <a:latin typeface="Calibri" pitchFamily="34" charset="0"/>
                          <a:ea typeface="Calibri" pitchFamily="34" charset="-122"/>
                          <a:cs typeface="Calibri" pitchFamily="34" charset="-120"/>
                        </a:rPr>
                        <a:t>Gate · turnaround · crew</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r>
              <a:tr h="566928">
                <a:tc>
                  <a:txBody>
                    <a:bodyPr/>
                    <a:lstStyle/>
                    <a:p>
                      <a:pPr indent="0" marL="0">
                        <a:buNone/>
                      </a:pPr>
                      <a:r>
                        <a:rPr lang="en-US" sz="2400" b="1" dirty="0">
                          <a:solidFill>
                            <a:srgbClr val="F4F6FA"/>
                          </a:solidFill>
                          <a:latin typeface="Calibri" pitchFamily="34" charset="0"/>
                          <a:ea typeface="Calibri" pitchFamily="34" charset="-122"/>
                          <a:cs typeface="Calibri" pitchFamily="34" charset="-120"/>
                        </a:rPr>
                        <a:t>Pilot</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c>
                  <a:txBody>
                    <a:bodyPr/>
                    <a:lstStyle/>
                    <a:p>
                      <a:pPr indent="0" marL="0">
                        <a:buNone/>
                      </a:pPr>
                      <a:r>
                        <a:rPr lang="en-US" sz="2400" dirty="0">
                          <a:solidFill>
                            <a:srgbClr val="F4F6FA"/>
                          </a:solidFill>
                          <a:latin typeface="Calibri" pitchFamily="34" charset="0"/>
                          <a:ea typeface="Calibri" pitchFamily="34" charset="-122"/>
                          <a:cs typeface="Calibri" pitchFamily="34" charset="-120"/>
                        </a:rPr>
                        <a:t>Holding · extra fuel · divert</a:t>
                      </a:r>
                      <a:endParaRPr lang="en-US" sz="2400" dirty="0">
                        <a:latin typeface="Calibri" charset="0"/>
                        <a:ea typeface="Calibri" charset="0"/>
                        <a:cs typeface="Calibri" charset="0"/>
                      </a:endParaRPr>
                    </a:p>
                  </a:txBody>
                  <a:tcPr marL="182880" marR="182880" marT="0" marB="0" anchor="ctr">
                    <a:lnL w="25400" cap="flat" cmpd="sng" algn="ctr">
                      <a:solidFill>
                        <a:srgbClr val="0F1B2D"/>
                      </a:solidFill>
                      <a:prstDash val="solid"/>
                      <a:round/>
                      <a:headEnd type="none" w="med" len="med"/>
                      <a:tailEnd type="none" w="med" len="med"/>
                    </a:lnL>
                    <a:lnR w="25400" cap="flat" cmpd="sng" algn="ctr">
                      <a:solidFill>
                        <a:srgbClr val="0F1B2D"/>
                      </a:solidFill>
                      <a:prstDash val="solid"/>
                      <a:round/>
                      <a:headEnd type="none" w="med" len="med"/>
                      <a:tailEnd type="none" w="med" len="med"/>
                    </a:lnR>
                    <a:lnT w="25400" cap="flat" cmpd="sng" algn="ctr">
                      <a:solidFill>
                        <a:srgbClr val="0F1B2D"/>
                      </a:solidFill>
                      <a:prstDash val="solid"/>
                      <a:round/>
                      <a:headEnd type="none" w="med" len="med"/>
                      <a:tailEnd type="none" w="med" len="med"/>
                    </a:lnT>
                    <a:lnB w="25400" cap="flat" cmpd="sng" algn="ctr">
                      <a:solidFill>
                        <a:srgbClr val="0F1B2D"/>
                      </a:solidFill>
                      <a:prstDash val="solid"/>
                      <a:round/>
                      <a:headEnd type="none" w="med" len="med"/>
                      <a:tailEnd type="none" w="med" len="med"/>
                    </a:lnB>
                    <a:solidFill>
                      <a:srgbClr val="1B2B45"/>
                    </a:solidFill>
                  </a:tcPr>
                </a:tc>
              </a:tr>
            </a:tbl>
          </a:graphicData>
        </a:graphic>
      </p:graphicFrame>
      <p:sp>
        <p:nvSpPr>
          <p:cNvPr id="5" name="Text 1"/>
          <p:cNvSpPr txBox="1"/>
          <p:nvPr/>
        </p:nvSpPr>
        <p:spPr>
          <a:xfrm>
            <a:off x="548640" y="4069080"/>
            <a:ext cx="11064240" cy="457200"/>
          </a:xfrm>
          <a:prstGeom prst="rect">
            <a:avLst/>
          </a:prstGeom>
          <a:noFill/>
          <a:ln/>
        </p:spPr>
        <p:txBody>
          <a:bodyPr wrap="square" lIns="0" tIns="0" rIns="0" bIns="0" rtlCol="0" anchor="ctr"/>
          <a:lstStyle/>
          <a:p>
            <a:pPr indent="0" marL="0">
              <a:buNone/>
            </a:pPr>
            <a:r>
              <a:rPr lang="en-US" sz="2400" b="1" dirty="0">
                <a:solidFill>
                  <a:srgbClr val="F2A93B"/>
                </a:solidFill>
                <a:latin typeface="Calibri" pitchFamily="34" charset="0"/>
                <a:ea typeface="Calibri" pitchFamily="34" charset="-122"/>
                <a:cs typeface="Calibri" pitchFamily="34" charset="-120"/>
              </a:rPr>
              <a:t>Hard limits (organisers' workbook)</a:t>
            </a:r>
            <a:endParaRPr lang="en-US" sz="2400" dirty="0"/>
          </a:p>
        </p:txBody>
      </p:sp>
      <p:sp>
        <p:nvSpPr>
          <p:cNvPr id="6" name="Shape 2"/>
          <p:cNvSpPr/>
          <p:nvPr/>
        </p:nvSpPr>
        <p:spPr>
          <a:xfrm>
            <a:off x="548640" y="4663440"/>
            <a:ext cx="3566160" cy="685800"/>
          </a:xfrm>
          <a:prstGeom prst="roundRect">
            <a:avLst>
              <a:gd name="adj" fmla="val 13333"/>
            </a:avLst>
          </a:prstGeom>
          <a:solidFill>
            <a:srgbClr val="1B2B45"/>
          </a:solidFill>
          <a:ln w="25400">
            <a:solidFill>
              <a:srgbClr val="F2A93B"/>
            </a:solidFill>
            <a:prstDash val="solid"/>
          </a:ln>
        </p:spPr>
      </p:sp>
      <p:sp>
        <p:nvSpPr>
          <p:cNvPr id="7" name="Text 3"/>
          <p:cNvSpPr txBox="1"/>
          <p:nvPr/>
        </p:nvSpPr>
        <p:spPr>
          <a:xfrm>
            <a:off x="548640" y="4663440"/>
            <a:ext cx="3566160" cy="68580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30-min final reserve</a:t>
            </a:r>
            <a:endParaRPr lang="en-US" sz="2400" dirty="0"/>
          </a:p>
        </p:txBody>
      </p:sp>
      <p:sp>
        <p:nvSpPr>
          <p:cNvPr id="8" name="Shape 4"/>
          <p:cNvSpPr/>
          <p:nvPr/>
        </p:nvSpPr>
        <p:spPr>
          <a:xfrm>
            <a:off x="4297680" y="4663440"/>
            <a:ext cx="3566160" cy="685800"/>
          </a:xfrm>
          <a:prstGeom prst="roundRect">
            <a:avLst>
              <a:gd name="adj" fmla="val 13333"/>
            </a:avLst>
          </a:prstGeom>
          <a:solidFill>
            <a:srgbClr val="1B2B45"/>
          </a:solidFill>
          <a:ln w="25400">
            <a:solidFill>
              <a:srgbClr val="F2A93B"/>
            </a:solidFill>
            <a:prstDash val="solid"/>
          </a:ln>
        </p:spPr>
      </p:sp>
      <p:sp>
        <p:nvSpPr>
          <p:cNvPr id="9" name="Text 5"/>
          <p:cNvSpPr txBox="1"/>
          <p:nvPr/>
        </p:nvSpPr>
        <p:spPr>
          <a:xfrm>
            <a:off x="4297680" y="4663440"/>
            <a:ext cx="3566160" cy="68580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45-min turnaround</a:t>
            </a:r>
            <a:endParaRPr lang="en-US" sz="2400" dirty="0"/>
          </a:p>
        </p:txBody>
      </p:sp>
      <p:sp>
        <p:nvSpPr>
          <p:cNvPr id="10" name="Shape 6"/>
          <p:cNvSpPr/>
          <p:nvPr/>
        </p:nvSpPr>
        <p:spPr>
          <a:xfrm>
            <a:off x="8046720" y="4663440"/>
            <a:ext cx="3566160" cy="685800"/>
          </a:xfrm>
          <a:prstGeom prst="roundRect">
            <a:avLst>
              <a:gd name="adj" fmla="val 13333"/>
            </a:avLst>
          </a:prstGeom>
          <a:solidFill>
            <a:srgbClr val="1B2B45"/>
          </a:solidFill>
          <a:ln w="25400">
            <a:solidFill>
              <a:srgbClr val="F2A93B"/>
            </a:solidFill>
            <a:prstDash val="solid"/>
          </a:ln>
        </p:spPr>
      </p:sp>
      <p:sp>
        <p:nvSpPr>
          <p:cNvPr id="11" name="Text 7"/>
          <p:cNvSpPr txBox="1"/>
          <p:nvPr/>
        </p:nvSpPr>
        <p:spPr>
          <a:xfrm>
            <a:off x="8046720" y="4663440"/>
            <a:ext cx="3566160" cy="68580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20-min gate notice</a:t>
            </a:r>
            <a:endParaRPr lang="en-US" sz="2400" dirty="0"/>
          </a:p>
        </p:txBody>
      </p:sp>
      <p:sp>
        <p:nvSpPr>
          <p:cNvPr id="12" name="Shape 8"/>
          <p:cNvSpPr/>
          <p:nvPr/>
        </p:nvSpPr>
        <p:spPr>
          <a:xfrm>
            <a:off x="548640" y="5486400"/>
            <a:ext cx="3566160" cy="685800"/>
          </a:xfrm>
          <a:prstGeom prst="roundRect">
            <a:avLst>
              <a:gd name="adj" fmla="val 13333"/>
            </a:avLst>
          </a:prstGeom>
          <a:solidFill>
            <a:srgbClr val="1B2B45"/>
          </a:solidFill>
          <a:ln w="25400">
            <a:solidFill>
              <a:srgbClr val="F2A93B"/>
            </a:solidFill>
            <a:prstDash val="solid"/>
          </a:ln>
        </p:spPr>
      </p:sp>
      <p:sp>
        <p:nvSpPr>
          <p:cNvPr id="13" name="Text 9"/>
          <p:cNvSpPr txBox="1"/>
          <p:nvPr/>
        </p:nvSpPr>
        <p:spPr>
          <a:xfrm>
            <a:off x="548640" y="5486400"/>
            <a:ext cx="3566160" cy="68580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8 h crew shift</a:t>
            </a:r>
            <a:endParaRPr lang="en-US" sz="2400" dirty="0"/>
          </a:p>
        </p:txBody>
      </p:sp>
      <p:sp>
        <p:nvSpPr>
          <p:cNvPr id="14" name="Shape 10"/>
          <p:cNvSpPr/>
          <p:nvPr/>
        </p:nvSpPr>
        <p:spPr>
          <a:xfrm>
            <a:off x="4297680" y="5486400"/>
            <a:ext cx="3566160" cy="685800"/>
          </a:xfrm>
          <a:prstGeom prst="roundRect">
            <a:avLst>
              <a:gd name="adj" fmla="val 13333"/>
            </a:avLst>
          </a:prstGeom>
          <a:solidFill>
            <a:srgbClr val="1B2B45"/>
          </a:solidFill>
          <a:ln w="25400">
            <a:solidFill>
              <a:srgbClr val="F2A93B"/>
            </a:solidFill>
            <a:prstDash val="solid"/>
          </a:ln>
        </p:spPr>
      </p:sp>
      <p:sp>
        <p:nvSpPr>
          <p:cNvPr id="15" name="Text 11"/>
          <p:cNvSpPr txBox="1"/>
          <p:nvPr/>
        </p:nvSpPr>
        <p:spPr>
          <a:xfrm>
            <a:off x="4297680" y="5486400"/>
            <a:ext cx="3566160" cy="685800"/>
          </a:xfrm>
          <a:prstGeom prst="rect">
            <a:avLst/>
          </a:prstGeom>
          <a:noFill/>
          <a:ln/>
        </p:spPr>
        <p:txBody>
          <a:bodyPr wrap="square" lIns="1524" tIns="1524" rIns="1524" bIns="1524" rtlCol="0" anchor="ctr"/>
          <a:lstStyle/>
          <a:p>
            <a:pPr algn="ctr" indent="0" marL="0">
              <a:buNone/>
            </a:pPr>
            <a:r>
              <a:rPr lang="en-US" sz="2400" dirty="0">
                <a:solidFill>
                  <a:srgbClr val="F4F6FA"/>
                </a:solidFill>
                <a:latin typeface="Calibri" pitchFamily="34" charset="0"/>
                <a:ea typeface="Calibri" pitchFamily="34" charset="-122"/>
                <a:cs typeface="Calibri" pitchFamily="34" charset="-120"/>
              </a:rPr>
              <a:t>Wake separation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Real, derived, synthetic: all labelled</a:t>
            </a:r>
            <a:endParaRPr lang="en-US" sz="4000" dirty="0"/>
          </a:p>
        </p:txBody>
      </p:sp>
      <p:sp>
        <p:nvSpPr>
          <p:cNvPr id="4" name="Shape 1"/>
          <p:cNvSpPr/>
          <p:nvPr/>
        </p:nvSpPr>
        <p:spPr>
          <a:xfrm>
            <a:off x="548640" y="1645920"/>
            <a:ext cx="3566160" cy="3291840"/>
          </a:xfrm>
          <a:prstGeom prst="roundRect">
            <a:avLst>
              <a:gd name="adj" fmla="val 2778"/>
            </a:avLst>
          </a:prstGeom>
          <a:solidFill>
            <a:srgbClr val="1B2B45"/>
          </a:solidFill>
          <a:ln w="12700">
            <a:solidFill>
              <a:srgbClr val="1B2B45"/>
            </a:solidFill>
            <a:prstDash val="solid"/>
          </a:ln>
        </p:spPr>
      </p:sp>
      <p:sp>
        <p:nvSpPr>
          <p:cNvPr id="5" name="Text 2"/>
          <p:cNvSpPr txBox="1"/>
          <p:nvPr/>
        </p:nvSpPr>
        <p:spPr>
          <a:xfrm>
            <a:off x="822960" y="1783080"/>
            <a:ext cx="3017520" cy="640080"/>
          </a:xfrm>
          <a:prstGeom prst="rect">
            <a:avLst/>
          </a:prstGeom>
          <a:noFill/>
          <a:ln/>
        </p:spPr>
        <p:txBody>
          <a:bodyPr wrap="square" lIns="0" tIns="0" rIns="0" bIns="0" rtlCol="0" anchor="ctr"/>
          <a:lstStyle/>
          <a:p>
            <a:pPr indent="0" marL="0">
              <a:buNone/>
            </a:pPr>
            <a:r>
              <a:rPr lang="en-US" sz="3200" b="1" dirty="0">
                <a:solidFill>
                  <a:srgbClr val="6FCF97"/>
                </a:solidFill>
                <a:latin typeface="Calibri" pitchFamily="34" charset="0"/>
                <a:ea typeface="Calibri" pitchFamily="34" charset="-122"/>
                <a:cs typeface="Calibri" pitchFamily="34" charset="-120"/>
              </a:rPr>
              <a:t>REAL</a:t>
            </a:r>
            <a:endParaRPr lang="en-US" sz="3200" dirty="0"/>
          </a:p>
        </p:txBody>
      </p:sp>
      <p:sp>
        <p:nvSpPr>
          <p:cNvPr id="6" name="Text 3"/>
          <p:cNvSpPr txBox="1"/>
          <p:nvPr/>
        </p:nvSpPr>
        <p:spPr>
          <a:xfrm>
            <a:off x="822960" y="2560320"/>
            <a:ext cx="3108960" cy="2194560"/>
          </a:xfrm>
          <a:prstGeom prst="rect">
            <a:avLst/>
          </a:prstGeom>
          <a:noFill/>
          <a:ln/>
        </p:spPr>
        <p:txBody>
          <a:bodyPr wrap="square" lIns="0" tIns="0" rIns="0" bIns="0" rtlCol="0" anchor="t"/>
          <a:lstStyle/>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DOT 2015 schedule</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Tail numbers</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Delay causes</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Airports</a:t>
            </a:r>
            <a:endParaRPr lang="en-US" sz="2600" dirty="0"/>
          </a:p>
        </p:txBody>
      </p:sp>
      <p:sp>
        <p:nvSpPr>
          <p:cNvPr id="7" name="Shape 4"/>
          <p:cNvSpPr/>
          <p:nvPr/>
        </p:nvSpPr>
        <p:spPr>
          <a:xfrm>
            <a:off x="4297680" y="1645920"/>
            <a:ext cx="3566160" cy="3291840"/>
          </a:xfrm>
          <a:prstGeom prst="roundRect">
            <a:avLst>
              <a:gd name="adj" fmla="val 2778"/>
            </a:avLst>
          </a:prstGeom>
          <a:solidFill>
            <a:srgbClr val="1B2B45"/>
          </a:solidFill>
          <a:ln w="12700">
            <a:solidFill>
              <a:srgbClr val="1B2B45"/>
            </a:solidFill>
            <a:prstDash val="solid"/>
          </a:ln>
        </p:spPr>
      </p:sp>
      <p:sp>
        <p:nvSpPr>
          <p:cNvPr id="8" name="Text 5"/>
          <p:cNvSpPr txBox="1"/>
          <p:nvPr/>
        </p:nvSpPr>
        <p:spPr>
          <a:xfrm>
            <a:off x="4572000" y="1783080"/>
            <a:ext cx="3017520" cy="640080"/>
          </a:xfrm>
          <a:prstGeom prst="rect">
            <a:avLst/>
          </a:prstGeom>
          <a:noFill/>
          <a:ln/>
        </p:spPr>
        <p:txBody>
          <a:bodyPr wrap="square" lIns="0" tIns="0" rIns="0" bIns="0" rtlCol="0" anchor="ctr"/>
          <a:lstStyle/>
          <a:p>
            <a:pPr indent="0" marL="0">
              <a:buNone/>
            </a:pPr>
            <a:r>
              <a:rPr lang="en-US" sz="3200" b="1" dirty="0">
                <a:solidFill>
                  <a:srgbClr val="F2A93B"/>
                </a:solidFill>
                <a:latin typeface="Calibri" pitchFamily="34" charset="0"/>
                <a:ea typeface="Calibri" pitchFamily="34" charset="-122"/>
                <a:cs typeface="Calibri" pitchFamily="34" charset="-120"/>
              </a:rPr>
              <a:t>DERIVED</a:t>
            </a:r>
            <a:endParaRPr lang="en-US" sz="3200" dirty="0"/>
          </a:p>
        </p:txBody>
      </p:sp>
      <p:sp>
        <p:nvSpPr>
          <p:cNvPr id="9" name="Text 6"/>
          <p:cNvSpPr txBox="1"/>
          <p:nvPr/>
        </p:nvSpPr>
        <p:spPr>
          <a:xfrm>
            <a:off x="4572000" y="2560320"/>
            <a:ext cx="3108960" cy="2194560"/>
          </a:xfrm>
          <a:prstGeom prst="rect">
            <a:avLst/>
          </a:prstGeom>
          <a:noFill/>
          <a:ln/>
        </p:spPr>
        <p:txBody>
          <a:bodyPr wrap="square" lIns="0" tIns="0" rIns="0" bIns="0" rtlCol="0" anchor="t"/>
          <a:lstStyle/>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Fuel margins,</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computed from rules</a:t>
            </a:r>
            <a:endParaRPr lang="en-US" sz="2600" dirty="0"/>
          </a:p>
        </p:txBody>
      </p:sp>
      <p:sp>
        <p:nvSpPr>
          <p:cNvPr id="10" name="Shape 7"/>
          <p:cNvSpPr/>
          <p:nvPr/>
        </p:nvSpPr>
        <p:spPr>
          <a:xfrm>
            <a:off x="8046720" y="1645920"/>
            <a:ext cx="3566160" cy="3291840"/>
          </a:xfrm>
          <a:prstGeom prst="roundRect">
            <a:avLst>
              <a:gd name="adj" fmla="val 2778"/>
            </a:avLst>
          </a:prstGeom>
          <a:solidFill>
            <a:srgbClr val="1B2B45"/>
          </a:solidFill>
          <a:ln w="12700">
            <a:solidFill>
              <a:srgbClr val="1B2B45"/>
            </a:solidFill>
            <a:prstDash val="solid"/>
          </a:ln>
        </p:spPr>
      </p:sp>
      <p:sp>
        <p:nvSpPr>
          <p:cNvPr id="11" name="Text 8"/>
          <p:cNvSpPr txBox="1"/>
          <p:nvPr/>
        </p:nvSpPr>
        <p:spPr>
          <a:xfrm>
            <a:off x="8321040" y="1783080"/>
            <a:ext cx="3017520" cy="640080"/>
          </a:xfrm>
          <a:prstGeom prst="rect">
            <a:avLst/>
          </a:prstGeom>
          <a:noFill/>
          <a:ln/>
        </p:spPr>
        <p:txBody>
          <a:bodyPr wrap="square" lIns="0" tIns="0" rIns="0" bIns="0" rtlCol="0" anchor="ctr"/>
          <a:lstStyle/>
          <a:p>
            <a:pPr indent="0" marL="0">
              <a:buNone/>
            </a:pPr>
            <a:r>
              <a:rPr lang="en-US" sz="3200" b="1" dirty="0">
                <a:solidFill>
                  <a:srgbClr val="E8736B"/>
                </a:solidFill>
                <a:latin typeface="Calibri" pitchFamily="34" charset="0"/>
                <a:ea typeface="Calibri" pitchFamily="34" charset="-122"/>
                <a:cs typeface="Calibri" pitchFamily="34" charset="-120"/>
              </a:rPr>
              <a:t>SYNTHETIC</a:t>
            </a:r>
            <a:endParaRPr lang="en-US" sz="3200" dirty="0"/>
          </a:p>
        </p:txBody>
      </p:sp>
      <p:sp>
        <p:nvSpPr>
          <p:cNvPr id="12" name="Text 9"/>
          <p:cNvSpPr txBox="1"/>
          <p:nvPr/>
        </p:nvSpPr>
        <p:spPr>
          <a:xfrm>
            <a:off x="8321040" y="2560320"/>
            <a:ext cx="3108960" cy="2194560"/>
          </a:xfrm>
          <a:prstGeom prst="rect">
            <a:avLst/>
          </a:prstGeom>
          <a:noFill/>
          <a:ln/>
        </p:spPr>
        <p:txBody>
          <a:bodyPr wrap="square" lIns="0" tIns="0" rIns="0" bIns="0" rtlCol="0" anchor="t"/>
          <a:lstStyle/>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Gates</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Crew shifts</a:t>
            </a:r>
            <a:endParaRPr lang="en-US" sz="2600" dirty="0"/>
          </a:p>
          <a:p>
            <a:pPr indent="0" marL="0">
              <a:spcAft>
                <a:spcPts val="600"/>
              </a:spcAft>
              <a:buNone/>
            </a:pPr>
            <a:r>
              <a:rPr lang="en-US" sz="2600" dirty="0">
                <a:solidFill>
                  <a:srgbClr val="F4F6FA"/>
                </a:solidFill>
                <a:latin typeface="Calibri" pitchFamily="34" charset="0"/>
                <a:ea typeface="Calibri" pitchFamily="34" charset="-122"/>
                <a:cs typeface="Calibri" pitchFamily="34" charset="-120"/>
              </a:rPr>
              <a:t>Connections</a:t>
            </a:r>
            <a:endParaRPr lang="en-US" sz="2600" dirty="0"/>
          </a:p>
        </p:txBody>
      </p:sp>
      <p:sp>
        <p:nvSpPr>
          <p:cNvPr id="13" name="Text 10"/>
          <p:cNvSpPr txBox="1"/>
          <p:nvPr/>
        </p:nvSpPr>
        <p:spPr>
          <a:xfrm>
            <a:off x="548640" y="5303520"/>
            <a:ext cx="11064240" cy="822960"/>
          </a:xfrm>
          <a:prstGeom prst="rect">
            <a:avLst/>
          </a:prstGeom>
          <a:noFill/>
          <a:ln/>
        </p:spPr>
        <p:txBody>
          <a:bodyPr wrap="square" lIns="0" tIns="0" rIns="0" bIns="0" rtlCol="0" anchor="ctr"/>
          <a:lstStyle/>
          <a:p>
            <a:pPr indent="0" marL="0">
              <a:buNone/>
            </a:pPr>
            <a:r>
              <a:rPr lang="en-US" sz="3200" b="1" dirty="0">
                <a:solidFill>
                  <a:srgbClr val="F2A93B"/>
                </a:solidFill>
                <a:latin typeface="Calibri" pitchFamily="34" charset="0"/>
                <a:ea typeface="Calibri" pitchFamily="34" charset="-122"/>
                <a:cs typeface="Calibri" pitchFamily="34" charset="-120"/>
              </a:rPr>
              <a:t>Agents never see outcome columns: no hindsight</a:t>
            </a:r>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Demo: DFW, 24 Apr 2015, flight MQ3086</a:t>
            </a:r>
            <a:endParaRPr lang="en-US" sz="4000" dirty="0"/>
          </a:p>
        </p:txBody>
      </p:sp>
      <p:sp>
        <p:nvSpPr>
          <p:cNvPr id="4" name="Shape 1"/>
          <p:cNvSpPr/>
          <p:nvPr/>
        </p:nvSpPr>
        <p:spPr>
          <a:xfrm>
            <a:off x="548640" y="1554480"/>
            <a:ext cx="6766560" cy="1097280"/>
          </a:xfrm>
          <a:prstGeom prst="roundRect">
            <a:avLst>
              <a:gd name="adj" fmla="val 8333"/>
            </a:avLst>
          </a:prstGeom>
          <a:solidFill>
            <a:srgbClr val="1B2B45"/>
          </a:solidFill>
          <a:ln w="12700">
            <a:solidFill>
              <a:srgbClr val="1B2B45"/>
            </a:solidFill>
            <a:prstDash val="solid"/>
          </a:ln>
        </p:spPr>
      </p:sp>
      <p:sp>
        <p:nvSpPr>
          <p:cNvPr id="5" name="Text 2"/>
          <p:cNvSpPr txBox="1"/>
          <p:nvPr/>
        </p:nvSpPr>
        <p:spPr>
          <a:xfrm>
            <a:off x="731520" y="1554480"/>
            <a:ext cx="731520" cy="1097280"/>
          </a:xfrm>
          <a:prstGeom prst="rect">
            <a:avLst/>
          </a:prstGeom>
          <a:noFill/>
          <a:ln/>
        </p:spPr>
        <p:txBody>
          <a:bodyPr wrap="square" lIns="0" tIns="0" rIns="0" bIns="0" rtlCol="0" anchor="ctr"/>
          <a:lstStyle/>
          <a:p>
            <a:pPr indent="0" marL="0">
              <a:buNone/>
            </a:pPr>
            <a:r>
              <a:rPr lang="en-US" sz="3200" b="1" dirty="0">
                <a:solidFill>
                  <a:srgbClr val="F2A93B"/>
                </a:solidFill>
                <a:latin typeface="Calibri" pitchFamily="34" charset="0"/>
                <a:ea typeface="Calibri" pitchFamily="34" charset="-122"/>
                <a:cs typeface="Calibri" pitchFamily="34" charset="-120"/>
              </a:rPr>
              <a:t>R1</a:t>
            </a:r>
            <a:endParaRPr lang="en-US" sz="3200" dirty="0"/>
          </a:p>
        </p:txBody>
      </p:sp>
      <p:sp>
        <p:nvSpPr>
          <p:cNvPr id="6" name="Text 3"/>
          <p:cNvSpPr txBox="1"/>
          <p:nvPr/>
        </p:nvSpPr>
        <p:spPr>
          <a:xfrm>
            <a:off x="1554480" y="1554480"/>
            <a:ext cx="5669280" cy="1097280"/>
          </a:xfrm>
          <a:prstGeom prst="rect">
            <a:avLst/>
          </a:prstGeom>
          <a:noFill/>
          <a:ln/>
        </p:spPr>
        <p:txBody>
          <a:bodyPr wrap="square" lIns="0" tIns="0" rIns="0" bIns="0" rtlCol="0" anchor="ctr"/>
          <a:lstStyle/>
          <a:p>
            <a:pPr indent="0" marL="0">
              <a:buNone/>
            </a:pPr>
            <a:r>
              <a:rPr lang="en-US" sz="2400" b="1" dirty="0">
                <a:solidFill>
                  <a:srgbClr val="F4F6FA"/>
                </a:solidFill>
                <a:latin typeface="Calibri" pitchFamily="34" charset="0"/>
                <a:ea typeface="Calibri" pitchFamily="34" charset="-122"/>
                <a:cs typeface="Calibri" pitchFamily="34" charset="-120"/>
              </a:rPr>
              <a:t>Proposals</a:t>
            </a:r>
            <a:endParaRPr lang="en-US" sz="2400" dirty="0"/>
          </a:p>
          <a:p>
            <a:pPr indent="0" marL="0">
              <a:buNone/>
            </a:pPr>
            <a:r>
              <a:rPr lang="en-US" sz="2400" dirty="0">
                <a:solidFill>
                  <a:srgbClr val="6FCF97"/>
                </a:solidFill>
                <a:latin typeface="Calibri" pitchFamily="34" charset="0"/>
                <a:ea typeface="Calibri" pitchFamily="34" charset="-122"/>
                <a:cs typeface="Calibri" pitchFamily="34" charset="-120"/>
              </a:rPr>
              <a:t>✓ 8   ✗ 16 blocked (gate busy, fuel)</a:t>
            </a:r>
            <a:endParaRPr lang="en-US" sz="2400" dirty="0"/>
          </a:p>
        </p:txBody>
      </p:sp>
      <p:sp>
        <p:nvSpPr>
          <p:cNvPr id="7" name="Shape 4"/>
          <p:cNvSpPr/>
          <p:nvPr/>
        </p:nvSpPr>
        <p:spPr>
          <a:xfrm>
            <a:off x="548640" y="2788920"/>
            <a:ext cx="6766560" cy="1097280"/>
          </a:xfrm>
          <a:prstGeom prst="roundRect">
            <a:avLst>
              <a:gd name="adj" fmla="val 8333"/>
            </a:avLst>
          </a:prstGeom>
          <a:solidFill>
            <a:srgbClr val="1B2B45"/>
          </a:solidFill>
          <a:ln w="12700">
            <a:solidFill>
              <a:srgbClr val="1B2B45"/>
            </a:solidFill>
            <a:prstDash val="solid"/>
          </a:ln>
        </p:spPr>
      </p:sp>
      <p:sp>
        <p:nvSpPr>
          <p:cNvPr id="8" name="Text 5"/>
          <p:cNvSpPr txBox="1"/>
          <p:nvPr/>
        </p:nvSpPr>
        <p:spPr>
          <a:xfrm>
            <a:off x="731520" y="2788920"/>
            <a:ext cx="731520" cy="1097280"/>
          </a:xfrm>
          <a:prstGeom prst="rect">
            <a:avLst/>
          </a:prstGeom>
          <a:noFill/>
          <a:ln/>
        </p:spPr>
        <p:txBody>
          <a:bodyPr wrap="square" lIns="0" tIns="0" rIns="0" bIns="0" rtlCol="0" anchor="ctr"/>
          <a:lstStyle/>
          <a:p>
            <a:pPr indent="0" marL="0">
              <a:buNone/>
            </a:pPr>
            <a:r>
              <a:rPr lang="en-US" sz="3200" b="1" dirty="0">
                <a:solidFill>
                  <a:srgbClr val="F2A93B"/>
                </a:solidFill>
                <a:latin typeface="Calibri" pitchFamily="34" charset="0"/>
                <a:ea typeface="Calibri" pitchFamily="34" charset="-122"/>
                <a:cs typeface="Calibri" pitchFamily="34" charset="-120"/>
              </a:rPr>
              <a:t>R2</a:t>
            </a:r>
            <a:endParaRPr lang="en-US" sz="3200" dirty="0"/>
          </a:p>
        </p:txBody>
      </p:sp>
      <p:sp>
        <p:nvSpPr>
          <p:cNvPr id="9" name="Text 6"/>
          <p:cNvSpPr txBox="1"/>
          <p:nvPr/>
        </p:nvSpPr>
        <p:spPr>
          <a:xfrm>
            <a:off x="1554480" y="2788920"/>
            <a:ext cx="5669280" cy="1097280"/>
          </a:xfrm>
          <a:prstGeom prst="rect">
            <a:avLst/>
          </a:prstGeom>
          <a:noFill/>
          <a:ln/>
        </p:spPr>
        <p:txBody>
          <a:bodyPr wrap="square" lIns="0" tIns="0" rIns="0" bIns="0" rtlCol="0" anchor="ctr"/>
          <a:lstStyle/>
          <a:p>
            <a:pPr indent="0" marL="0">
              <a:buNone/>
            </a:pPr>
            <a:r>
              <a:rPr lang="en-US" sz="2400" b="1" dirty="0">
                <a:solidFill>
                  <a:srgbClr val="F4F6FA"/>
                </a:solidFill>
                <a:latin typeface="Calibri" pitchFamily="34" charset="0"/>
                <a:ea typeface="Calibri" pitchFamily="34" charset="-122"/>
                <a:cs typeface="Calibri" pitchFamily="34" charset="-120"/>
              </a:rPr>
              <a:t>Scoring</a:t>
            </a:r>
            <a:endParaRPr lang="en-US" sz="2400" dirty="0"/>
          </a:p>
          <a:p>
            <a:pPr indent="0" marL="0">
              <a:buNone/>
            </a:pPr>
            <a:r>
              <a:rPr lang="en-US" sz="2400" dirty="0">
                <a:solidFill>
                  <a:srgbClr val="6FCF97"/>
                </a:solidFill>
                <a:latin typeface="Calibri" pitchFamily="34" charset="0"/>
                <a:ea typeface="Calibri" pitchFamily="34" charset="-122"/>
                <a:cs typeface="Calibri" pitchFamily="34" charset="-120"/>
              </a:rPr>
              <a:t>✓ C2 on the table</a:t>
            </a:r>
            <a:endParaRPr lang="en-US" sz="2400" dirty="0"/>
          </a:p>
        </p:txBody>
      </p:sp>
      <p:sp>
        <p:nvSpPr>
          <p:cNvPr id="10" name="Shape 7"/>
          <p:cNvSpPr/>
          <p:nvPr/>
        </p:nvSpPr>
        <p:spPr>
          <a:xfrm>
            <a:off x="548640" y="4023360"/>
            <a:ext cx="6766560" cy="1097280"/>
          </a:xfrm>
          <a:prstGeom prst="roundRect">
            <a:avLst>
              <a:gd name="adj" fmla="val 8333"/>
            </a:avLst>
          </a:prstGeom>
          <a:solidFill>
            <a:srgbClr val="1B2B45"/>
          </a:solidFill>
          <a:ln w="12700">
            <a:solidFill>
              <a:srgbClr val="1B2B45"/>
            </a:solidFill>
            <a:prstDash val="solid"/>
          </a:ln>
        </p:spPr>
      </p:sp>
      <p:sp>
        <p:nvSpPr>
          <p:cNvPr id="11" name="Text 8"/>
          <p:cNvSpPr txBox="1"/>
          <p:nvPr/>
        </p:nvSpPr>
        <p:spPr>
          <a:xfrm>
            <a:off x="731520" y="4023360"/>
            <a:ext cx="731520" cy="1097280"/>
          </a:xfrm>
          <a:prstGeom prst="rect">
            <a:avLst/>
          </a:prstGeom>
          <a:noFill/>
          <a:ln/>
        </p:spPr>
        <p:txBody>
          <a:bodyPr wrap="square" lIns="0" tIns="0" rIns="0" bIns="0" rtlCol="0" anchor="ctr"/>
          <a:lstStyle/>
          <a:p>
            <a:pPr indent="0" marL="0">
              <a:buNone/>
            </a:pPr>
            <a:r>
              <a:rPr lang="en-US" sz="3200" b="1" dirty="0">
                <a:solidFill>
                  <a:srgbClr val="F2A93B"/>
                </a:solidFill>
                <a:latin typeface="Calibri" pitchFamily="34" charset="0"/>
                <a:ea typeface="Calibri" pitchFamily="34" charset="-122"/>
                <a:cs typeface="Calibri" pitchFamily="34" charset="-120"/>
              </a:rPr>
              <a:t>R3</a:t>
            </a:r>
            <a:endParaRPr lang="en-US" sz="3200" dirty="0"/>
          </a:p>
        </p:txBody>
      </p:sp>
      <p:sp>
        <p:nvSpPr>
          <p:cNvPr id="12" name="Text 9"/>
          <p:cNvSpPr txBox="1"/>
          <p:nvPr/>
        </p:nvSpPr>
        <p:spPr>
          <a:xfrm>
            <a:off x="1554480" y="4023360"/>
            <a:ext cx="5669280" cy="1097280"/>
          </a:xfrm>
          <a:prstGeom prst="rect">
            <a:avLst/>
          </a:prstGeom>
          <a:noFill/>
          <a:ln/>
        </p:spPr>
        <p:txBody>
          <a:bodyPr wrap="square" lIns="0" tIns="0" rIns="0" bIns="0" rtlCol="0" anchor="ctr"/>
          <a:lstStyle/>
          <a:p>
            <a:pPr indent="0" marL="0">
              <a:buNone/>
            </a:pPr>
            <a:r>
              <a:rPr lang="en-US" sz="2400" b="1" dirty="0">
                <a:solidFill>
                  <a:srgbClr val="F4F6FA"/>
                </a:solidFill>
                <a:latin typeface="Calibri" pitchFamily="34" charset="0"/>
                <a:ea typeface="Calibri" pitchFamily="34" charset="-122"/>
                <a:cs typeface="Calibri" pitchFamily="34" charset="-120"/>
              </a:rPr>
              <a:t>Votes</a:t>
            </a:r>
            <a:endParaRPr lang="en-US" sz="2400" dirty="0"/>
          </a:p>
          <a:p>
            <a:pPr indent="0" marL="0">
              <a:buNone/>
            </a:pPr>
            <a:r>
              <a:rPr lang="en-US" sz="2400" dirty="0">
                <a:solidFill>
                  <a:srgbClr val="6FCF97"/>
                </a:solidFill>
                <a:latin typeface="Calibri" pitchFamily="34" charset="0"/>
                <a:ea typeface="Calibri" pitchFamily="34" charset="-122"/>
                <a:cs typeface="Calibri" pitchFamily="34" charset="-120"/>
              </a:rPr>
              <a:t>✓ ✓ ✓ consensus</a:t>
            </a:r>
            <a:endParaRPr lang="en-US" sz="2400" dirty="0"/>
          </a:p>
        </p:txBody>
      </p:sp>
      <p:sp>
        <p:nvSpPr>
          <p:cNvPr id="13" name="Shape 10"/>
          <p:cNvSpPr/>
          <p:nvPr/>
        </p:nvSpPr>
        <p:spPr>
          <a:xfrm>
            <a:off x="7589520" y="1554480"/>
            <a:ext cx="4023360" cy="3566160"/>
          </a:xfrm>
          <a:prstGeom prst="roundRect">
            <a:avLst>
              <a:gd name="adj" fmla="val 2564"/>
            </a:avLst>
          </a:prstGeom>
          <a:solidFill>
            <a:srgbClr val="1B2B45"/>
          </a:solidFill>
          <a:ln w="25400">
            <a:solidFill>
              <a:srgbClr val="F2A93B"/>
            </a:solidFill>
            <a:prstDash val="solid"/>
          </a:ln>
        </p:spPr>
      </p:sp>
      <p:sp>
        <p:nvSpPr>
          <p:cNvPr id="14" name="Text 11"/>
          <p:cNvSpPr txBox="1"/>
          <p:nvPr/>
        </p:nvSpPr>
        <p:spPr>
          <a:xfrm>
            <a:off x="7772400" y="1645920"/>
            <a:ext cx="3657600" cy="3383280"/>
          </a:xfrm>
          <a:prstGeom prst="rect">
            <a:avLst/>
          </a:prstGeom>
          <a:noFill/>
          <a:ln/>
        </p:spPr>
        <p:txBody>
          <a:bodyPr wrap="square" lIns="0" tIns="0" rIns="0" bIns="0" rtlCol="0" anchor="t"/>
          <a:lstStyle/>
          <a:p>
            <a:pPr indent="0" marL="0">
              <a:spcAft>
                <a:spcPts val="600"/>
              </a:spcAft>
              <a:buNone/>
            </a:pPr>
            <a:r>
              <a:rPr lang="en-US" sz="2800" b="1" dirty="0">
                <a:solidFill>
                  <a:srgbClr val="F2A93B"/>
                </a:solidFill>
                <a:latin typeface="Calibri" pitchFamily="34" charset="0"/>
                <a:ea typeface="Calibri" pitchFamily="34" charset="-122"/>
                <a:cs typeface="Calibri" pitchFamily="34" charset="-120"/>
              </a:rPr>
              <a:t>Final plan</a:t>
            </a:r>
            <a:endParaRPr lang="en-US" sz="2400" dirty="0"/>
          </a:p>
          <a:p>
            <a:pPr indent="0" marL="0">
              <a:spcAft>
                <a:spcPts val="600"/>
              </a:spcAft>
              <a:buNone/>
            </a:pPr>
            <a:r>
              <a:rPr lang="en-US" sz="2400" dirty="0">
                <a:solidFill>
                  <a:srgbClr val="F4F6FA"/>
                </a:solidFill>
                <a:latin typeface="Calibri" pitchFamily="34" charset="0"/>
                <a:ea typeface="Calibri" pitchFamily="34" charset="-122"/>
                <a:cs typeface="Calibri" pitchFamily="34" charset="-120"/>
              </a:rPr>
              <a:t>Land 21:09</a:t>
            </a:r>
            <a:endParaRPr lang="en-US" sz="2400" dirty="0"/>
          </a:p>
          <a:p>
            <a:pPr indent="0" marL="0">
              <a:spcAft>
                <a:spcPts val="600"/>
              </a:spcAft>
              <a:buNone/>
            </a:pPr>
            <a:r>
              <a:rPr lang="en-US" sz="2400" dirty="0">
                <a:solidFill>
                  <a:srgbClr val="F4F6FA"/>
                </a:solidFill>
                <a:latin typeface="Calibri" pitchFamily="34" charset="0"/>
                <a:ea typeface="Calibri" pitchFamily="34" charset="-122"/>
                <a:cs typeface="Calibri" pitchFamily="34" charset="-120"/>
              </a:rPr>
              <a:t>Ground delay 105 min</a:t>
            </a:r>
            <a:endParaRPr lang="en-US" sz="2400" dirty="0"/>
          </a:p>
          <a:p>
            <a:pPr indent="0" marL="0">
              <a:spcAft>
                <a:spcPts val="600"/>
              </a:spcAft>
              <a:buNone/>
            </a:pPr>
            <a:r>
              <a:rPr lang="en-US" sz="2400" dirty="0">
                <a:solidFill>
                  <a:srgbClr val="F4F6FA"/>
                </a:solidFill>
                <a:latin typeface="Calibri" pitchFamily="34" charset="0"/>
                <a:ea typeface="Calibri" pitchFamily="34" charset="-122"/>
                <a:cs typeface="Calibri" pitchFamily="34" charset="-120"/>
              </a:rPr>
              <a:t>Gate B20</a:t>
            </a:r>
            <a:endParaRPr lang="en-US" sz="2400" dirty="0"/>
          </a:p>
          <a:p>
            <a:pPr indent="0" marL="0">
              <a:spcAft>
                <a:spcPts val="600"/>
              </a:spcAft>
              <a:buNone/>
            </a:pPr>
            <a:r>
              <a:rPr lang="en-US" sz="2400" dirty="0">
                <a:solidFill>
                  <a:srgbClr val="F4F6FA"/>
                </a:solidFill>
                <a:latin typeface="Calibri" pitchFamily="34" charset="0"/>
                <a:ea typeface="Calibri" pitchFamily="34" charset="-122"/>
                <a:cs typeface="Calibri" pitchFamily="34" charset="-120"/>
              </a:rPr>
              <a:t>No holding · no divert</a:t>
            </a:r>
            <a:endParaRPr lang="en-US" sz="2400" dirty="0"/>
          </a:p>
          <a:p>
            <a:pPr indent="0" marL="0">
              <a:spcAft>
                <a:spcPts val="600"/>
              </a:spcAft>
              <a:buNone/>
            </a:pPr>
            <a:r>
              <a:rPr lang="en-US" sz="2400" dirty="0">
                <a:solidFill>
                  <a:srgbClr val="F4F6FA"/>
                </a:solidFill>
                <a:latin typeface="Calibri" pitchFamily="34" charset="0"/>
                <a:ea typeface="Calibri" pitchFamily="34" charset="-122"/>
                <a:cs typeface="Calibri" pitchFamily="34" charset="-120"/>
              </a:rPr>
              <a:t>≈ $11,915 system cost</a:t>
            </a:r>
            <a:endParaRPr lang="en-US" sz="2400" dirty="0"/>
          </a:p>
        </p:txBody>
      </p:sp>
      <p:sp>
        <p:nvSpPr>
          <p:cNvPr id="15" name="Text 12"/>
          <p:cNvSpPr txBox="1"/>
          <p:nvPr/>
        </p:nvSpPr>
        <p:spPr>
          <a:xfrm>
            <a:off x="548640" y="5394960"/>
            <a:ext cx="11064240" cy="731520"/>
          </a:xfrm>
          <a:prstGeom prst="rect">
            <a:avLst/>
          </a:prstGeom>
          <a:noFill/>
          <a:ln/>
        </p:spPr>
        <p:txBody>
          <a:bodyPr wrap="square" lIns="0" tIns="0" rIns="0" bIns="0" rtlCol="0" anchor="ctr"/>
          <a:lstStyle/>
          <a:p>
            <a:pPr indent="0" marL="0">
              <a:buNone/>
            </a:pPr>
            <a:r>
              <a:rPr lang="en-US" sz="3000" b="1" dirty="0">
                <a:solidFill>
                  <a:srgbClr val="F4F6FA"/>
                </a:solidFill>
                <a:latin typeface="Calibri" pitchFamily="34" charset="0"/>
                <a:ea typeface="Calibri" pitchFamily="34" charset="-122"/>
                <a:cs typeface="Calibri" pitchFamily="34" charset="-120"/>
              </a:rPr>
              <a:t>Human duty manager: Approve / Reject</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Evaluation: agents vs deterministic fallback</a:t>
            </a:r>
            <a:endParaRPr lang="en-US" sz="4000" dirty="0"/>
          </a:p>
        </p:txBody>
      </p:sp>
      <p:sp>
        <p:nvSpPr>
          <p:cNvPr id="4" name="Shape 1"/>
          <p:cNvSpPr/>
          <p:nvPr/>
        </p:nvSpPr>
        <p:spPr>
          <a:xfrm>
            <a:off x="548640" y="1554480"/>
            <a:ext cx="3566160" cy="2377440"/>
          </a:xfrm>
          <a:prstGeom prst="roundRect">
            <a:avLst>
              <a:gd name="adj" fmla="val 3846"/>
            </a:avLst>
          </a:prstGeom>
          <a:solidFill>
            <a:srgbClr val="1B2B45"/>
          </a:solidFill>
          <a:ln w="12700">
            <a:solidFill>
              <a:srgbClr val="1B2B45"/>
            </a:solidFill>
            <a:prstDash val="solid"/>
          </a:ln>
        </p:spPr>
      </p:sp>
      <p:sp>
        <p:nvSpPr>
          <p:cNvPr id="5" name="Text 2"/>
          <p:cNvSpPr txBox="1"/>
          <p:nvPr/>
        </p:nvSpPr>
        <p:spPr>
          <a:xfrm>
            <a:off x="731520" y="1645920"/>
            <a:ext cx="3200400" cy="1188720"/>
          </a:xfrm>
          <a:prstGeom prst="rect">
            <a:avLst/>
          </a:prstGeom>
          <a:noFill/>
          <a:ln/>
        </p:spPr>
        <p:txBody>
          <a:bodyPr wrap="square" lIns="0" tIns="0" rIns="0" bIns="0" rtlCol="0" anchor="ctr"/>
          <a:lstStyle/>
          <a:p>
            <a:pPr algn="ctr" indent="0" marL="0">
              <a:buNone/>
            </a:pPr>
            <a:r>
              <a:rPr lang="en-US" sz="5400" b="1" dirty="0">
                <a:solidFill>
                  <a:srgbClr val="F2A93B"/>
                </a:solidFill>
                <a:latin typeface="Calibri" pitchFamily="34" charset="0"/>
                <a:ea typeface="Calibri" pitchFamily="34" charset="-122"/>
                <a:cs typeface="Calibri" pitchFamily="34" charset="-120"/>
              </a:rPr>
              <a:t>[__]%</a:t>
            </a:r>
            <a:endParaRPr lang="en-US" sz="5400" dirty="0"/>
          </a:p>
        </p:txBody>
      </p:sp>
      <p:sp>
        <p:nvSpPr>
          <p:cNvPr id="6" name="Text 3"/>
          <p:cNvSpPr txBox="1"/>
          <p:nvPr/>
        </p:nvSpPr>
        <p:spPr>
          <a:xfrm>
            <a:off x="731520" y="2834640"/>
            <a:ext cx="3200400" cy="1005840"/>
          </a:xfrm>
          <a:prstGeom prst="rect">
            <a:avLst/>
          </a:prstGeom>
          <a:noFill/>
          <a:ln/>
        </p:spPr>
        <p:txBody>
          <a:bodyPr wrap="square" lIns="0" tIns="0" rIns="0" bIns="0" rtlCol="0" anchor="t"/>
          <a:lstStyle/>
          <a:p>
            <a:pPr algn="ctr" indent="0" marL="0">
              <a:buNone/>
            </a:pPr>
            <a:r>
              <a:rPr lang="en-US" sz="2400" dirty="0">
                <a:solidFill>
                  <a:srgbClr val="F4F6FA"/>
                </a:solidFill>
                <a:latin typeface="Calibri" pitchFamily="34" charset="0"/>
                <a:ea typeface="Calibri" pitchFamily="34" charset="-122"/>
                <a:cs typeface="Calibri" pitchFamily="34" charset="-120"/>
              </a:rPr>
              <a:t>consensus within 3 rounds</a:t>
            </a:r>
            <a:endParaRPr lang="en-US" sz="2400" dirty="0"/>
          </a:p>
        </p:txBody>
      </p:sp>
      <p:sp>
        <p:nvSpPr>
          <p:cNvPr id="7" name="Shape 4"/>
          <p:cNvSpPr/>
          <p:nvPr/>
        </p:nvSpPr>
        <p:spPr>
          <a:xfrm>
            <a:off x="4297680" y="1554480"/>
            <a:ext cx="3566160" cy="2377440"/>
          </a:xfrm>
          <a:prstGeom prst="roundRect">
            <a:avLst>
              <a:gd name="adj" fmla="val 3846"/>
            </a:avLst>
          </a:prstGeom>
          <a:solidFill>
            <a:srgbClr val="1B2B45"/>
          </a:solidFill>
          <a:ln w="12700">
            <a:solidFill>
              <a:srgbClr val="1B2B45"/>
            </a:solidFill>
            <a:prstDash val="solid"/>
          </a:ln>
        </p:spPr>
      </p:sp>
      <p:sp>
        <p:nvSpPr>
          <p:cNvPr id="8" name="Text 5"/>
          <p:cNvSpPr txBox="1"/>
          <p:nvPr/>
        </p:nvSpPr>
        <p:spPr>
          <a:xfrm>
            <a:off x="4480560" y="1645920"/>
            <a:ext cx="3200400" cy="1188720"/>
          </a:xfrm>
          <a:prstGeom prst="rect">
            <a:avLst/>
          </a:prstGeom>
          <a:noFill/>
          <a:ln/>
        </p:spPr>
        <p:txBody>
          <a:bodyPr wrap="square" lIns="0" tIns="0" rIns="0" bIns="0" rtlCol="0" anchor="ctr"/>
          <a:lstStyle/>
          <a:p>
            <a:pPr algn="ctr" indent="0" marL="0">
              <a:buNone/>
            </a:pPr>
            <a:r>
              <a:rPr lang="en-US" sz="5400" b="1" dirty="0">
                <a:solidFill>
                  <a:srgbClr val="F2A93B"/>
                </a:solidFill>
                <a:latin typeface="Calibri" pitchFamily="34" charset="0"/>
                <a:ea typeface="Calibri" pitchFamily="34" charset="-122"/>
                <a:cs typeface="Calibri" pitchFamily="34" charset="-120"/>
              </a:rPr>
              <a:t>0</a:t>
            </a:r>
            <a:endParaRPr lang="en-US" sz="5400" dirty="0"/>
          </a:p>
        </p:txBody>
      </p:sp>
      <p:sp>
        <p:nvSpPr>
          <p:cNvPr id="9" name="Text 6"/>
          <p:cNvSpPr txBox="1"/>
          <p:nvPr/>
        </p:nvSpPr>
        <p:spPr>
          <a:xfrm>
            <a:off x="4480560" y="2834640"/>
            <a:ext cx="3200400" cy="1005840"/>
          </a:xfrm>
          <a:prstGeom prst="rect">
            <a:avLst/>
          </a:prstGeom>
          <a:noFill/>
          <a:ln/>
        </p:spPr>
        <p:txBody>
          <a:bodyPr wrap="square" lIns="0" tIns="0" rIns="0" bIns="0" rtlCol="0" anchor="t"/>
          <a:lstStyle/>
          <a:p>
            <a:pPr algn="ctr" indent="0" marL="0">
              <a:buNone/>
            </a:pPr>
            <a:r>
              <a:rPr lang="en-US" sz="2400" dirty="0">
                <a:solidFill>
                  <a:srgbClr val="F4F6FA"/>
                </a:solidFill>
                <a:latin typeface="Calibri" pitchFamily="34" charset="0"/>
                <a:ea typeface="Calibri" pitchFamily="34" charset="-122"/>
                <a:cs typeface="Calibri" pitchFamily="34" charset="-120"/>
              </a:rPr>
              <a:t>constraint violations (verify on batch)</a:t>
            </a:r>
            <a:endParaRPr lang="en-US" sz="2400" dirty="0"/>
          </a:p>
        </p:txBody>
      </p:sp>
      <p:sp>
        <p:nvSpPr>
          <p:cNvPr id="10" name="Shape 7"/>
          <p:cNvSpPr/>
          <p:nvPr/>
        </p:nvSpPr>
        <p:spPr>
          <a:xfrm>
            <a:off x="8046720" y="1554480"/>
            <a:ext cx="3566160" cy="2377440"/>
          </a:xfrm>
          <a:prstGeom prst="roundRect">
            <a:avLst>
              <a:gd name="adj" fmla="val 3846"/>
            </a:avLst>
          </a:prstGeom>
          <a:solidFill>
            <a:srgbClr val="1B2B45"/>
          </a:solidFill>
          <a:ln w="12700">
            <a:solidFill>
              <a:srgbClr val="1B2B45"/>
            </a:solidFill>
            <a:prstDash val="solid"/>
          </a:ln>
        </p:spPr>
      </p:sp>
      <p:sp>
        <p:nvSpPr>
          <p:cNvPr id="11" name="Text 8"/>
          <p:cNvSpPr txBox="1"/>
          <p:nvPr/>
        </p:nvSpPr>
        <p:spPr>
          <a:xfrm>
            <a:off x="8229600" y="1645920"/>
            <a:ext cx="3200400" cy="1188720"/>
          </a:xfrm>
          <a:prstGeom prst="rect">
            <a:avLst/>
          </a:prstGeom>
          <a:noFill/>
          <a:ln/>
        </p:spPr>
        <p:txBody>
          <a:bodyPr wrap="square" lIns="0" tIns="0" rIns="0" bIns="0" rtlCol="0" anchor="ctr"/>
          <a:lstStyle/>
          <a:p>
            <a:pPr algn="ctr" indent="0" marL="0">
              <a:buNone/>
            </a:pPr>
            <a:r>
              <a:rPr lang="en-US" sz="3600" b="1" dirty="0">
                <a:solidFill>
                  <a:srgbClr val="F2A93B"/>
                </a:solidFill>
                <a:latin typeface="Calibri" pitchFamily="34" charset="0"/>
                <a:ea typeface="Calibri" pitchFamily="34" charset="-122"/>
                <a:cs typeface="Calibri" pitchFamily="34" charset="-120"/>
              </a:rPr>
              <a:t>$[__] vs $[__]</a:t>
            </a:r>
            <a:endParaRPr lang="en-US" sz="3600" dirty="0"/>
          </a:p>
        </p:txBody>
      </p:sp>
      <p:sp>
        <p:nvSpPr>
          <p:cNvPr id="12" name="Text 9"/>
          <p:cNvSpPr txBox="1"/>
          <p:nvPr/>
        </p:nvSpPr>
        <p:spPr>
          <a:xfrm>
            <a:off x="8229600" y="2834640"/>
            <a:ext cx="3200400" cy="1005840"/>
          </a:xfrm>
          <a:prstGeom prst="rect">
            <a:avLst/>
          </a:prstGeom>
          <a:noFill/>
          <a:ln/>
        </p:spPr>
        <p:txBody>
          <a:bodyPr wrap="square" lIns="0" tIns="0" rIns="0" bIns="0" rtlCol="0" anchor="t"/>
          <a:lstStyle/>
          <a:p>
            <a:pPr algn="ctr" indent="0" marL="0">
              <a:buNone/>
            </a:pPr>
            <a:r>
              <a:rPr lang="en-US" sz="2400" dirty="0">
                <a:solidFill>
                  <a:srgbClr val="F4F6FA"/>
                </a:solidFill>
                <a:latin typeface="Calibri" pitchFamily="34" charset="0"/>
                <a:ea typeface="Calibri" pitchFamily="34" charset="-122"/>
                <a:cs typeface="Calibri" pitchFamily="34" charset="-120"/>
              </a:rPr>
              <a:t>agents vs fallback, avg cost</a:t>
            </a:r>
            <a:endParaRPr lang="en-US" sz="2400" dirty="0"/>
          </a:p>
        </p:txBody>
      </p:sp>
      <p:sp>
        <p:nvSpPr>
          <p:cNvPr id="13" name="Shape 10"/>
          <p:cNvSpPr/>
          <p:nvPr/>
        </p:nvSpPr>
        <p:spPr>
          <a:xfrm>
            <a:off x="548640" y="4206240"/>
            <a:ext cx="11064240" cy="2103120"/>
          </a:xfrm>
          <a:prstGeom prst="roundRect">
            <a:avLst>
              <a:gd name="adj" fmla="val 4348"/>
            </a:avLst>
          </a:prstGeom>
          <a:solidFill>
            <a:srgbClr val="1B2B45"/>
          </a:solidFill>
          <a:ln w="25400">
            <a:solidFill>
              <a:srgbClr val="E8736B"/>
            </a:solidFill>
            <a:prstDash val="solid"/>
          </a:ln>
        </p:spPr>
      </p:sp>
      <p:sp>
        <p:nvSpPr>
          <p:cNvPr id="14" name="Text 11"/>
          <p:cNvSpPr txBox="1"/>
          <p:nvPr/>
        </p:nvSpPr>
        <p:spPr>
          <a:xfrm>
            <a:off x="822960" y="4297680"/>
            <a:ext cx="10515600" cy="1920240"/>
          </a:xfrm>
          <a:prstGeom prst="rect">
            <a:avLst/>
          </a:prstGeom>
          <a:noFill/>
          <a:ln/>
        </p:spPr>
        <p:txBody>
          <a:bodyPr wrap="square" lIns="0" tIns="0" rIns="0" bIns="0" rtlCol="0" anchor="ctr"/>
          <a:lstStyle/>
          <a:p>
            <a:pPr indent="0" marL="0">
              <a:spcAft>
                <a:spcPts val="800"/>
              </a:spcAft>
              <a:buNone/>
            </a:pPr>
            <a:r>
              <a:rPr lang="en-US" sz="2800" b="1" dirty="0">
                <a:solidFill>
                  <a:srgbClr val="E8736B"/>
                </a:solidFill>
                <a:latin typeface="Calibri" pitchFamily="34" charset="0"/>
                <a:ea typeface="Calibri" pitchFamily="34" charset="-122"/>
                <a:cs typeface="Calibri" pitchFamily="34" charset="-120"/>
              </a:rPr>
              <a:t>Failure case: </a:t>
            </a:r>
            <a:pPr indent="0" marL="0">
              <a:spcAft>
                <a:spcPts val="800"/>
              </a:spcAft>
              <a:buNone/>
            </a:pPr>
            <a:r>
              <a:rPr lang="en-US" sz="2800" dirty="0">
                <a:solidFill>
                  <a:srgbClr val="F4F6FA"/>
                </a:solidFill>
                <a:latin typeface="Calibri" pitchFamily="34" charset="0"/>
                <a:ea typeface="Calibri" pitchFamily="34" charset="-122"/>
                <a:cs typeface="Calibri" pitchFamily="34" charset="-120"/>
              </a:rPr>
              <a:t>[__ scenario, what went wrong]</a:t>
            </a:r>
            <a:endParaRPr lang="en-US" sz="2800" dirty="0"/>
          </a:p>
          <a:p>
            <a:pPr indent="0" marL="0">
              <a:spcAft>
                <a:spcPts val="800"/>
              </a:spcAft>
              <a:buNone/>
            </a:pPr>
            <a:r>
              <a:rPr lang="en-US" sz="2800" b="1" dirty="0">
                <a:solidFill>
                  <a:srgbClr val="E8736B"/>
                </a:solidFill>
                <a:latin typeface="Calibri" pitchFamily="34" charset="0"/>
                <a:ea typeface="Calibri" pitchFamily="34" charset="-122"/>
                <a:cs typeface="Calibri" pitchFamily="34" charset="-120"/>
              </a:rPr>
              <a:t>Why: </a:t>
            </a:r>
            <a:pPr indent="0" marL="0">
              <a:spcAft>
                <a:spcPts val="800"/>
              </a:spcAft>
              <a:buNone/>
            </a:pPr>
            <a:r>
              <a:rPr lang="en-US" sz="2800" dirty="0">
                <a:solidFill>
                  <a:srgbClr val="F4F6FA"/>
                </a:solidFill>
                <a:latin typeface="Calibri" pitchFamily="34" charset="0"/>
                <a:ea typeface="Calibri" pitchFamily="34" charset="-122"/>
                <a:cs typeface="Calibri" pitchFamily="34" charset="-120"/>
              </a:rPr>
              <a:t>[__ reason]</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914400"/>
          </a:xfrm>
          <a:prstGeom prst="rect">
            <a:avLst/>
          </a:prstGeom>
          <a:noFill/>
          <a:ln/>
        </p:spPr>
        <p:txBody>
          <a:bodyPr wrap="square" lIns="0" tIns="0" rIns="0" bIns="0" rtlCol="0" anchor="ctr"/>
          <a:lstStyle/>
          <a:p>
            <a:pPr indent="0" marL="0">
              <a:buNone/>
            </a:pPr>
            <a:r>
              <a:rPr lang="en-US" sz="4000" b="1" dirty="0">
                <a:solidFill>
                  <a:srgbClr val="F4F6FA"/>
                </a:solidFill>
                <a:latin typeface="Calibri" pitchFamily="34" charset="0"/>
                <a:ea typeface="Calibri" pitchFamily="34" charset="-122"/>
                <a:cs typeface="Calibri" pitchFamily="34" charset="-120"/>
              </a:rPr>
              <a:t>Limits and next steps</a:t>
            </a:r>
            <a:endParaRPr lang="en-US" sz="4000" dirty="0"/>
          </a:p>
        </p:txBody>
      </p:sp>
      <p:sp>
        <p:nvSpPr>
          <p:cNvPr id="4" name="Shape 1"/>
          <p:cNvSpPr/>
          <p:nvPr/>
        </p:nvSpPr>
        <p:spPr>
          <a:xfrm>
            <a:off x="548640" y="1554480"/>
            <a:ext cx="11064240" cy="1051560"/>
          </a:xfrm>
          <a:prstGeom prst="roundRect">
            <a:avLst>
              <a:gd name="adj" fmla="val 8696"/>
            </a:avLst>
          </a:prstGeom>
          <a:solidFill>
            <a:srgbClr val="1B2B45"/>
          </a:solidFill>
          <a:ln w="12700">
            <a:solidFill>
              <a:srgbClr val="1B2B45"/>
            </a:solidFill>
            <a:prstDash val="solid"/>
          </a:ln>
        </p:spPr>
      </p:sp>
      <p:sp>
        <p:nvSpPr>
          <p:cNvPr id="5" name="Text 2"/>
          <p:cNvSpPr txBox="1"/>
          <p:nvPr/>
        </p:nvSpPr>
        <p:spPr>
          <a:xfrm>
            <a:off x="822960" y="1554480"/>
            <a:ext cx="10515600" cy="1051560"/>
          </a:xfrm>
          <a:prstGeom prst="rect">
            <a:avLst/>
          </a:prstGeom>
          <a:noFill/>
          <a:ln/>
        </p:spPr>
        <p:txBody>
          <a:bodyPr wrap="square" lIns="0" tIns="0" rIns="0" bIns="0" rtlCol="0" anchor="ctr"/>
          <a:lstStyle/>
          <a:p>
            <a:pPr indent="0" marL="0">
              <a:buNone/>
            </a:pPr>
            <a:r>
              <a:rPr lang="en-US" sz="2800" b="1" dirty="0">
                <a:solidFill>
                  <a:srgbClr val="F4F6FA"/>
                </a:solidFill>
                <a:latin typeface="Calibri" pitchFamily="34" charset="0"/>
                <a:ea typeface="Calibri" pitchFamily="34" charset="-122"/>
                <a:cs typeface="Calibri" pitchFamily="34" charset="-120"/>
              </a:rPr>
              <a:t>One focal flight</a:t>
            </a:r>
            <a:pPr indent="0" marL="0">
              <a:buNone/>
            </a:pPr>
            <a:r>
              <a:rPr lang="en-US" sz="2800" dirty="0">
                <a:solidFill>
                  <a:srgbClr val="F2A93B"/>
                </a:solidFill>
                <a:latin typeface="Calibri" pitchFamily="34" charset="0"/>
                <a:ea typeface="Calibri" pitchFamily="34" charset="-122"/>
                <a:cs typeface="Calibri" pitchFamily="34" charset="-120"/>
              </a:rPr>
              <a:t>  →  multi-pilot next</a:t>
            </a:r>
            <a:endParaRPr lang="en-US" sz="2800" dirty="0"/>
          </a:p>
        </p:txBody>
      </p:sp>
      <p:sp>
        <p:nvSpPr>
          <p:cNvPr id="6" name="Shape 3"/>
          <p:cNvSpPr/>
          <p:nvPr/>
        </p:nvSpPr>
        <p:spPr>
          <a:xfrm>
            <a:off x="548640" y="2743200"/>
            <a:ext cx="11064240" cy="1051560"/>
          </a:xfrm>
          <a:prstGeom prst="roundRect">
            <a:avLst>
              <a:gd name="adj" fmla="val 8696"/>
            </a:avLst>
          </a:prstGeom>
          <a:solidFill>
            <a:srgbClr val="1B2B45"/>
          </a:solidFill>
          <a:ln w="12700">
            <a:solidFill>
              <a:srgbClr val="1B2B45"/>
            </a:solidFill>
            <a:prstDash val="solid"/>
          </a:ln>
        </p:spPr>
      </p:sp>
      <p:sp>
        <p:nvSpPr>
          <p:cNvPr id="7" name="Text 4"/>
          <p:cNvSpPr txBox="1"/>
          <p:nvPr/>
        </p:nvSpPr>
        <p:spPr>
          <a:xfrm>
            <a:off x="822960" y="2743200"/>
            <a:ext cx="10515600" cy="1051560"/>
          </a:xfrm>
          <a:prstGeom prst="rect">
            <a:avLst/>
          </a:prstGeom>
          <a:noFill/>
          <a:ln/>
        </p:spPr>
        <p:txBody>
          <a:bodyPr wrap="square" lIns="0" tIns="0" rIns="0" bIns="0" rtlCol="0" anchor="ctr"/>
          <a:lstStyle/>
          <a:p>
            <a:pPr indent="0" marL="0">
              <a:buNone/>
            </a:pPr>
            <a:r>
              <a:rPr lang="en-US" sz="2800" b="1" dirty="0">
                <a:solidFill>
                  <a:srgbClr val="F4F6FA"/>
                </a:solidFill>
                <a:latin typeface="Calibri" pitchFamily="34" charset="0"/>
                <a:ea typeface="Calibri" pitchFamily="34" charset="-122"/>
                <a:cs typeface="Calibri" pitchFamily="34" charset="-120"/>
              </a:rPr>
              <a:t>Synthetic gates and crew</a:t>
            </a:r>
            <a:pPr indent="0" marL="0">
              <a:buNone/>
            </a:pPr>
            <a:r>
              <a:rPr lang="en-US" sz="2800" dirty="0">
                <a:solidFill>
                  <a:srgbClr val="F2A93B"/>
                </a:solidFill>
                <a:latin typeface="Calibri" pitchFamily="34" charset="0"/>
                <a:ea typeface="Calibri" pitchFamily="34" charset="-122"/>
                <a:cs typeface="Calibri" pitchFamily="34" charset="-120"/>
              </a:rPr>
              <a:t>  →  real data in production</a:t>
            </a:r>
            <a:endParaRPr lang="en-US" sz="2800" dirty="0"/>
          </a:p>
        </p:txBody>
      </p:sp>
      <p:sp>
        <p:nvSpPr>
          <p:cNvPr id="8" name="Shape 5"/>
          <p:cNvSpPr/>
          <p:nvPr/>
        </p:nvSpPr>
        <p:spPr>
          <a:xfrm>
            <a:off x="548640" y="3931920"/>
            <a:ext cx="11064240" cy="1051560"/>
          </a:xfrm>
          <a:prstGeom prst="roundRect">
            <a:avLst>
              <a:gd name="adj" fmla="val 8696"/>
            </a:avLst>
          </a:prstGeom>
          <a:solidFill>
            <a:srgbClr val="1B2B45"/>
          </a:solidFill>
          <a:ln w="12700">
            <a:solidFill>
              <a:srgbClr val="1B2B45"/>
            </a:solidFill>
            <a:prstDash val="solid"/>
          </a:ln>
        </p:spPr>
      </p:sp>
      <p:sp>
        <p:nvSpPr>
          <p:cNvPr id="9" name="Text 6"/>
          <p:cNvSpPr txBox="1"/>
          <p:nvPr/>
        </p:nvSpPr>
        <p:spPr>
          <a:xfrm>
            <a:off x="822960" y="3931920"/>
            <a:ext cx="10515600" cy="1051560"/>
          </a:xfrm>
          <a:prstGeom prst="rect">
            <a:avLst/>
          </a:prstGeom>
          <a:noFill/>
          <a:ln/>
        </p:spPr>
        <p:txBody>
          <a:bodyPr wrap="square" lIns="0" tIns="0" rIns="0" bIns="0" rtlCol="0" anchor="ctr"/>
          <a:lstStyle/>
          <a:p>
            <a:pPr indent="0" marL="0">
              <a:buNone/>
            </a:pPr>
            <a:r>
              <a:rPr lang="en-US" sz="2800" b="1" dirty="0">
                <a:solidFill>
                  <a:srgbClr val="F4F6FA"/>
                </a:solidFill>
                <a:latin typeface="Calibri" pitchFamily="34" charset="0"/>
                <a:ea typeface="Calibri" pitchFamily="34" charset="-122"/>
                <a:cs typeface="Calibri" pitchFamily="34" charset="-120"/>
              </a:rPr>
              <a:t>Live feeds</a:t>
            </a:r>
            <a:pPr indent="0" marL="0">
              <a:buNone/>
            </a:pPr>
            <a:r>
              <a:rPr lang="en-US" sz="2800" dirty="0">
                <a:solidFill>
                  <a:srgbClr val="F2A93B"/>
                </a:solidFill>
                <a:latin typeface="Calibri" pitchFamily="34" charset="0"/>
                <a:ea typeface="Calibri" pitchFamily="34" charset="-122"/>
                <a:cs typeface="Calibri" pitchFamily="34" charset="-120"/>
              </a:rPr>
              <a:t>  →  FAA SWIM / A-CDM</a:t>
            </a:r>
            <a:endParaRPr lang="en-US" sz="2800" dirty="0"/>
          </a:p>
        </p:txBody>
      </p:sp>
      <p:sp>
        <p:nvSpPr>
          <p:cNvPr id="10" name="Text 7"/>
          <p:cNvSpPr txBox="1"/>
          <p:nvPr/>
        </p:nvSpPr>
        <p:spPr>
          <a:xfrm>
            <a:off x="548640" y="5212080"/>
            <a:ext cx="11064240" cy="1097280"/>
          </a:xfrm>
          <a:prstGeom prst="rect">
            <a:avLst/>
          </a:prstGeom>
          <a:noFill/>
          <a:ln/>
        </p:spPr>
        <p:txBody>
          <a:bodyPr wrap="square" lIns="0" tIns="0" rIns="0" bIns="0" rtlCol="0" anchor="ctr"/>
          <a:lstStyle/>
          <a:p>
            <a:pPr indent="0" marL="0">
              <a:buNone/>
            </a:pPr>
            <a:r>
              <a:rPr lang="en-US" sz="3600" b="1" dirty="0">
                <a:solidFill>
                  <a:srgbClr val="F2A93B"/>
                </a:solidFill>
                <a:latin typeface="Calibri" pitchFamily="34" charset="0"/>
                <a:ea typeface="Calibri" pitchFamily="34" charset="-122"/>
                <a:cs typeface="Calibri" pitchFamily="34" charset="-120"/>
              </a:rPr>
              <a:t>Code owns the protocol and safety, agents own the trade-offs, humans decide.</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Airbus Challenge #2 pitch</dc:title>
  <dc:subject>PptxGenJS Presentation</dc:subject>
  <dc:creator>PptxGenJS</dc:creator>
  <cp:lastModifiedBy>PptxGenJS</cp:lastModifiedBy>
  <cp:revision>1</cp:revision>
  <dcterms:created xsi:type="dcterms:W3CDTF">2026-10-31T08:01:47Z</dcterms:created>
  <dcterms:modified xsi:type="dcterms:W3CDTF">2026-10-31T08:01:47Z</dcterms:modified>
</cp:coreProperties>
</file>